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0"/>
  </p:notesMasterIdLst>
  <p:sldIdLst>
    <p:sldId id="256" r:id="rId2"/>
    <p:sldId id="328" r:id="rId3"/>
    <p:sldId id="329" r:id="rId4"/>
    <p:sldId id="290" r:id="rId5"/>
    <p:sldId id="331" r:id="rId6"/>
    <p:sldId id="330" r:id="rId7"/>
    <p:sldId id="322" r:id="rId8"/>
    <p:sldId id="294" r:id="rId9"/>
    <p:sldId id="278" r:id="rId10"/>
    <p:sldId id="297" r:id="rId11"/>
    <p:sldId id="279" r:id="rId12"/>
    <p:sldId id="293" r:id="rId13"/>
    <p:sldId id="311" r:id="rId14"/>
    <p:sldId id="312" r:id="rId15"/>
    <p:sldId id="325" r:id="rId16"/>
    <p:sldId id="260" r:id="rId17"/>
    <p:sldId id="326" r:id="rId18"/>
    <p:sldId id="286" r:id="rId19"/>
    <p:sldId id="287" r:id="rId20"/>
    <p:sldId id="282" r:id="rId21"/>
    <p:sldId id="284" r:id="rId22"/>
    <p:sldId id="285" r:id="rId23"/>
    <p:sldId id="288" r:id="rId24"/>
    <p:sldId id="289" r:id="rId25"/>
    <p:sldId id="267" r:id="rId26"/>
    <p:sldId id="304" r:id="rId27"/>
    <p:sldId id="264" r:id="rId28"/>
    <p:sldId id="265" r:id="rId29"/>
    <p:sldId id="266" r:id="rId30"/>
    <p:sldId id="268" r:id="rId31"/>
    <p:sldId id="269" r:id="rId32"/>
    <p:sldId id="270" r:id="rId33"/>
    <p:sldId id="271" r:id="rId34"/>
    <p:sldId id="272" r:id="rId35"/>
    <p:sldId id="273" r:id="rId36"/>
    <p:sldId id="274" r:id="rId37"/>
    <p:sldId id="275" r:id="rId38"/>
    <p:sldId id="276" r:id="rId39"/>
    <p:sldId id="277" r:id="rId40"/>
    <p:sldId id="319" r:id="rId41"/>
    <p:sldId id="320" r:id="rId42"/>
    <p:sldId id="321" r:id="rId43"/>
    <p:sldId id="305" r:id="rId44"/>
    <p:sldId id="314" r:id="rId45"/>
    <p:sldId id="315" r:id="rId46"/>
    <p:sldId id="316" r:id="rId47"/>
    <p:sldId id="317" r:id="rId48"/>
    <p:sldId id="318" r:id="rId49"/>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7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34587" autoAdjust="0"/>
    <p:restoredTop sz="86369" autoAdjust="0"/>
  </p:normalViewPr>
  <p:slideViewPr>
    <p:cSldViewPr>
      <p:cViewPr varScale="1">
        <p:scale>
          <a:sx n="99" d="100"/>
          <a:sy n="99" d="100"/>
        </p:scale>
        <p:origin x="1296" y="72"/>
      </p:cViewPr>
      <p:guideLst>
        <p:guide orient="horz" pos="2160"/>
        <p:guide pos="2872"/>
      </p:guideLst>
    </p:cSldViewPr>
  </p:slideViewPr>
  <p:outlineViewPr>
    <p:cViewPr>
      <p:scale>
        <a:sx n="33" d="100"/>
        <a:sy n="33" d="100"/>
      </p:scale>
      <p:origin x="21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78D9012-3FF9-4178-96B3-F3B9D4EF9307}" type="datetimeFigureOut">
              <a:rPr lang="zh-CN" altLang="en-US" smtClean="0"/>
              <a:pPr/>
              <a:t>2025/06/19</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3E19A6B-783B-4E44-93D5-C69AF57B90E2}"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135B57-1D13-45FB-9275-02A0D53F9767}" type="slidenum">
              <a:rPr lang="zh-CN" altLang="en-US" smtClean="0"/>
              <a:pPr/>
              <a:t>42</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2025/06/19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2025/06/19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2025/06/19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2025/06/19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pPr/>
              <a:t>2025/06/19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pPr/>
              <a:t>2025/06/19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pPr/>
              <a:t>2025/06/19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2025/06/19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2025/06/19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2025/06/19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2025/06/19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4_自定义版式">
    <p:spTree>
      <p:nvGrpSpPr>
        <p:cNvPr id="1" name=""/>
        <p:cNvGrpSpPr/>
        <p:nvPr/>
      </p:nvGrpSpPr>
      <p:grpSpPr>
        <a:xfrm>
          <a:off x="0" y="0"/>
          <a:ext cx="0" cy="0"/>
          <a:chOff x="0" y="0"/>
          <a:chExt cx="0" cy="0"/>
        </a:xfrm>
      </p:grpSpPr>
      <p:sp>
        <p:nvSpPr>
          <p:cNvPr id="6" name="图片占位符 5"/>
          <p:cNvSpPr>
            <a:spLocks noGrp="1"/>
          </p:cNvSpPr>
          <p:nvPr>
            <p:ph type="pic" sz="quarter" idx="10"/>
          </p:nvPr>
        </p:nvSpPr>
        <p:spPr>
          <a:xfrm>
            <a:off x="656036" y="2209800"/>
            <a:ext cx="3923910" cy="2870200"/>
          </a:xfrm>
          <a:custGeom>
            <a:avLst/>
            <a:gdLst>
              <a:gd name="connsiteX0" fmla="*/ 0 w 5231880"/>
              <a:gd name="connsiteY0" fmla="*/ 0 h 2870200"/>
              <a:gd name="connsiteX1" fmla="*/ 5231880 w 5231880"/>
              <a:gd name="connsiteY1" fmla="*/ 0 h 2870200"/>
              <a:gd name="connsiteX2" fmla="*/ 5231880 w 5231880"/>
              <a:gd name="connsiteY2" fmla="*/ 2870200 h 2870200"/>
              <a:gd name="connsiteX3" fmla="*/ 0 w 5231880"/>
              <a:gd name="connsiteY3" fmla="*/ 2870200 h 2870200"/>
            </a:gdLst>
            <a:ahLst/>
            <a:cxnLst>
              <a:cxn ang="0">
                <a:pos x="connsiteX0" y="connsiteY0"/>
              </a:cxn>
              <a:cxn ang="0">
                <a:pos x="connsiteX1" y="connsiteY1"/>
              </a:cxn>
              <a:cxn ang="0">
                <a:pos x="connsiteX2" y="connsiteY2"/>
              </a:cxn>
              <a:cxn ang="0">
                <a:pos x="connsiteX3" y="connsiteY3"/>
              </a:cxn>
            </a:cxnLst>
            <a:rect l="l" t="t" r="r" b="b"/>
            <a:pathLst>
              <a:path w="5231880" h="2870200">
                <a:moveTo>
                  <a:pt x="0" y="0"/>
                </a:moveTo>
                <a:lnTo>
                  <a:pt x="5231880" y="0"/>
                </a:lnTo>
                <a:lnTo>
                  <a:pt x="5231880" y="2870200"/>
                </a:lnTo>
                <a:lnTo>
                  <a:pt x="0" y="2870200"/>
                </a:lnTo>
                <a:close/>
              </a:path>
            </a:pathLst>
          </a:custGeom>
        </p:spPr>
        <p:txBody>
          <a:bodyPr wrap="square">
            <a:noAutofit/>
          </a:bodyPr>
          <a:lstStyle/>
          <a:p>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cstate="print">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pPr/>
              <a:t>2025/06/19</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webp"/><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hyperlink" Target="http://file.tgimg.cn/Image/Show?fid=Wd/Images/6173753/70356180788-a0a2d58d-b0b8-4a24-bafd-102ecfddd5f8.jpg" TargetMode="External"/><Relationship Id="rId3" Type="http://schemas.openxmlformats.org/officeDocument/2006/relationships/image" Target="../media/image17.jpeg"/><Relationship Id="rId7" Type="http://schemas.openxmlformats.org/officeDocument/2006/relationships/image" Target="../media/image19.jpeg"/><Relationship Id="rId2" Type="http://schemas.openxmlformats.org/officeDocument/2006/relationships/hyperlink" Target="http://file.tgimg.cn/Image/Show?fid=Wd/Images/6173753/53156179068-dbe08db3-81d6-4d67-a2e7-b1216159d2e0.jpg" TargetMode="External"/><Relationship Id="rId1" Type="http://schemas.openxmlformats.org/officeDocument/2006/relationships/slideLayout" Target="../slideLayouts/slideLayout2.xml"/><Relationship Id="rId6" Type="http://schemas.openxmlformats.org/officeDocument/2006/relationships/hyperlink" Target="http://file.tgimg.cn/Image/Show?fid=Wd/Images/6173753/14506175203-01b5e2dc-2054-4d91-aa43-66f0c0af6944.jpg" TargetMode="External"/><Relationship Id="rId5" Type="http://schemas.openxmlformats.org/officeDocument/2006/relationships/image" Target="../media/image18.jpeg"/><Relationship Id="rId4" Type="http://schemas.openxmlformats.org/officeDocument/2006/relationships/hyperlink" Target="http://file.tgimg.cn/Image/Show?fid=Wd/Images/6173753/11486174901-4ee2aab6-243d-49ba-8f3a-9257e55ab3cb.jpg" TargetMode="External"/><Relationship Id="rId9" Type="http://schemas.openxmlformats.org/officeDocument/2006/relationships/image" Target="../media/image20.jpeg"/></Relationships>
</file>

<file path=ppt/slides/_rels/slide19.xml.rels><?xml version="1.0" encoding="UTF-8" standalone="yes"?>
<Relationships xmlns="http://schemas.openxmlformats.org/package/2006/relationships"><Relationship Id="rId8" Type="http://schemas.openxmlformats.org/officeDocument/2006/relationships/hyperlink" Target="http://file.tgimg.cn/Image/Show?fid=Wd/Images/6173753/11376174890-875daab9-c425-4e0c-b71f-10591b9d4bc9.jpg" TargetMode="External"/><Relationship Id="rId3" Type="http://schemas.openxmlformats.org/officeDocument/2006/relationships/image" Target="../media/image21.jpeg"/><Relationship Id="rId7" Type="http://schemas.openxmlformats.org/officeDocument/2006/relationships/image" Target="../media/image23.jpeg"/><Relationship Id="rId2" Type="http://schemas.openxmlformats.org/officeDocument/2006/relationships/hyperlink" Target="http://file.tgimg.cn/Image/Show?fid=Wd/Images/6173753/39836177736-cee5a24b-394a-4b36-a319-fb7807cdbe38.jpg" TargetMode="External"/><Relationship Id="rId1" Type="http://schemas.openxmlformats.org/officeDocument/2006/relationships/slideLayout" Target="../slideLayouts/slideLayout2.xml"/><Relationship Id="rId6" Type="http://schemas.openxmlformats.org/officeDocument/2006/relationships/hyperlink" Target="http://file.tgimg.cn/Image/Show?fid=Wd/Images/6173753/35576177310-498fd0f6-2827-4491-a6d2-a31866bccc00.jpg" TargetMode="External"/><Relationship Id="rId5" Type="http://schemas.openxmlformats.org/officeDocument/2006/relationships/image" Target="../media/image22.jpeg"/><Relationship Id="rId4" Type="http://schemas.openxmlformats.org/officeDocument/2006/relationships/hyperlink" Target="http://file.tgimg.cn/Image/Show?fid=Wd/Images/6173753/81796181932-d60e1863-0b85-430b-9e13-8d7aa40dd8fa.jpg" TargetMode="External"/><Relationship Id="rId9" Type="http://schemas.openxmlformats.org/officeDocument/2006/relationships/image" Target="../media/image24.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2.xml"/><Relationship Id="rId4" Type="http://schemas.openxmlformats.org/officeDocument/2006/relationships/image" Target="../media/image33.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b="1" dirty="0"/>
              <a:t>工程伦理学第一讲</a:t>
            </a:r>
            <a:br>
              <a:rPr lang="zh-CN" altLang="en-US" b="1" dirty="0"/>
            </a:br>
            <a:endParaRPr lang="zh-CN" altLang="en-US" b="1" dirty="0"/>
          </a:p>
        </p:txBody>
      </p:sp>
      <p:sp>
        <p:nvSpPr>
          <p:cNvPr id="3" name="副标题 2"/>
          <p:cNvSpPr>
            <a:spLocks noGrp="1"/>
          </p:cNvSpPr>
          <p:nvPr>
            <p:ph type="subTitle" idx="1"/>
          </p:nvPr>
        </p:nvSpPr>
        <p:spPr/>
        <p:txBody>
          <a:bodyPr/>
          <a:lstStyle/>
          <a:p>
            <a:pPr>
              <a:lnSpc>
                <a:spcPct val="80000"/>
              </a:lnSpc>
            </a:pPr>
            <a:r>
              <a:rPr lang="zh-CN" altLang="en-US" b="1" dirty="0">
                <a:solidFill>
                  <a:schemeClr val="tx1"/>
                </a:solidFill>
              </a:rPr>
              <a:t>主讲   郭忆薇</a:t>
            </a:r>
          </a:p>
          <a:p>
            <a:pPr>
              <a:lnSpc>
                <a:spcPct val="80000"/>
              </a:lnSpc>
            </a:pPr>
            <a:r>
              <a:rPr lang="en-US" altLang="zh-CN" b="1" dirty="0">
                <a:solidFill>
                  <a:schemeClr val="tx1"/>
                </a:solidFill>
              </a:rPr>
              <a:t>QQ  1620136183</a:t>
            </a:r>
          </a:p>
          <a:p>
            <a:pPr>
              <a:lnSpc>
                <a:spcPct val="80000"/>
              </a:lnSpc>
            </a:pPr>
            <a:r>
              <a:rPr lang="en-US" altLang="zh-CN" b="1" dirty="0">
                <a:solidFill>
                  <a:schemeClr val="tx1"/>
                </a:solidFill>
              </a:rPr>
              <a:t>  </a:t>
            </a:r>
            <a:endParaRPr lang="zh-CN" altLang="en-US" dirty="0">
              <a:solidFill>
                <a:schemeClr val="tx1"/>
              </a:solidFill>
            </a:endParaRPr>
          </a:p>
        </p:txBody>
      </p:sp>
    </p:spTree>
  </p:cSld>
  <p:clrMapOvr>
    <a:masterClrMapping/>
  </p:clrMapOvr>
  <p:transition>
    <p:dissolv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441B77-CDB8-BFC2-A089-494D5A02F75D}"/>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E5B38190-FEB3-266D-6510-8587086342F6}"/>
              </a:ext>
            </a:extLst>
          </p:cNvPr>
          <p:cNvSpPr>
            <a:spLocks noGrp="1"/>
          </p:cNvSpPr>
          <p:nvPr>
            <p:ph idx="1"/>
          </p:nvPr>
        </p:nvSpPr>
        <p:spPr>
          <a:xfrm>
            <a:off x="457200" y="1600200"/>
            <a:ext cx="4330824" cy="4525963"/>
          </a:xfrm>
        </p:spPr>
        <p:txBody>
          <a:bodyPr>
            <a:normAutofit fontScale="70000" lnSpcReduction="20000"/>
          </a:bodyPr>
          <a:lstStyle/>
          <a:p>
            <a:pPr algn="l"/>
            <a:r>
              <a:rPr lang="zh-CN" altLang="en-US" b="1" i="0" dirty="0">
                <a:solidFill>
                  <a:srgbClr val="222222"/>
                </a:solidFill>
                <a:effectLst/>
                <a:latin typeface="arial" panose="020B0604020202020204" pitchFamily="34" charset="0"/>
              </a:rPr>
              <a:t>私拆承重墙后果不可设想</a:t>
            </a:r>
          </a:p>
          <a:p>
            <a:pPr algn="l"/>
            <a:r>
              <a:rPr lang="zh-CN" altLang="en-US" b="1" i="0" dirty="0">
                <a:solidFill>
                  <a:srgbClr val="222222"/>
                </a:solidFill>
                <a:effectLst/>
                <a:latin typeface="arial" panose="020B0604020202020204" pitchFamily="34" charset="0"/>
              </a:rPr>
              <a:t>有网友发文称，黑龙江哈尔滨一栋居民楼的承重墙被三楼的一家租户砸穿，据称，租户将开设</a:t>
            </a:r>
            <a:r>
              <a:rPr lang="zh-CN" altLang="en-US" b="1" i="0">
                <a:solidFill>
                  <a:srgbClr val="222222"/>
                </a:solidFill>
                <a:effectLst/>
                <a:latin typeface="arial" panose="020B0604020202020204" pitchFamily="34" charset="0"/>
              </a:rPr>
              <a:t>健身房。目前</a:t>
            </a:r>
            <a:r>
              <a:rPr lang="zh-CN" altLang="en-US" b="1" i="0" dirty="0">
                <a:solidFill>
                  <a:srgbClr val="222222"/>
                </a:solidFill>
                <a:effectLst/>
                <a:latin typeface="arial" panose="020B0604020202020204" pitchFamily="34" charset="0"/>
              </a:rPr>
              <a:t>楼体裂缝已到</a:t>
            </a:r>
            <a:r>
              <a:rPr lang="en-US" altLang="zh-CN" b="1" i="0" dirty="0">
                <a:solidFill>
                  <a:srgbClr val="222222"/>
                </a:solidFill>
                <a:effectLst/>
                <a:latin typeface="arial" panose="020B0604020202020204" pitchFamily="34" charset="0"/>
              </a:rPr>
              <a:t>21</a:t>
            </a:r>
            <a:r>
              <a:rPr lang="zh-CN" altLang="en-US" b="1" i="0" dirty="0">
                <a:solidFill>
                  <a:srgbClr val="222222"/>
                </a:solidFill>
                <a:effectLst/>
                <a:latin typeface="arial" panose="020B0604020202020204" pitchFamily="34" charset="0"/>
              </a:rPr>
              <a:t>楼，导致全楼住户无法回家。据了解，约有</a:t>
            </a:r>
            <a:r>
              <a:rPr lang="en-US" altLang="zh-CN" b="1" i="0" dirty="0">
                <a:solidFill>
                  <a:srgbClr val="222222"/>
                </a:solidFill>
                <a:effectLst/>
                <a:latin typeface="arial" panose="020B0604020202020204" pitchFamily="34" charset="0"/>
              </a:rPr>
              <a:t>240</a:t>
            </a:r>
            <a:r>
              <a:rPr lang="zh-CN" altLang="en-US" b="1" i="0" dirty="0">
                <a:solidFill>
                  <a:srgbClr val="222222"/>
                </a:solidFill>
                <a:effectLst/>
                <a:latin typeface="arial" panose="020B0604020202020204" pitchFamily="34" charset="0"/>
              </a:rPr>
              <a:t>户居民受到影响，直接经济损失可能高达</a:t>
            </a:r>
            <a:r>
              <a:rPr lang="en-US" altLang="zh-CN" b="1" i="0" dirty="0">
                <a:solidFill>
                  <a:srgbClr val="222222"/>
                </a:solidFill>
                <a:effectLst/>
                <a:latin typeface="arial" panose="020B0604020202020204" pitchFamily="34" charset="0"/>
              </a:rPr>
              <a:t>1.68</a:t>
            </a:r>
            <a:r>
              <a:rPr lang="zh-CN" altLang="en-US" b="1" i="0" dirty="0">
                <a:solidFill>
                  <a:srgbClr val="222222"/>
                </a:solidFill>
                <a:effectLst/>
                <a:latin typeface="arial" panose="020B0604020202020204" pitchFamily="34" charset="0"/>
              </a:rPr>
              <a:t>亿元以上。</a:t>
            </a:r>
            <a:r>
              <a:rPr lang="en-US" altLang="zh-CN" b="1" i="0" dirty="0">
                <a:solidFill>
                  <a:srgbClr val="222222"/>
                </a:solidFill>
                <a:effectLst/>
                <a:latin typeface="arial" panose="020B0604020202020204" pitchFamily="34" charset="0"/>
              </a:rPr>
              <a:t>2023</a:t>
            </a:r>
            <a:r>
              <a:rPr lang="zh-CN" altLang="en-US" b="1" i="0" dirty="0">
                <a:solidFill>
                  <a:srgbClr val="222222"/>
                </a:solidFill>
                <a:effectLst/>
                <a:latin typeface="arial" panose="020B0604020202020204" pitchFamily="34" charset="0"/>
              </a:rPr>
              <a:t>年</a:t>
            </a:r>
            <a:r>
              <a:rPr lang="en-US" altLang="zh-CN" b="1" i="0" dirty="0">
                <a:solidFill>
                  <a:srgbClr val="222222"/>
                </a:solidFill>
                <a:effectLst/>
                <a:latin typeface="arial" panose="020B0604020202020204" pitchFamily="34" charset="0"/>
              </a:rPr>
              <a:t>5</a:t>
            </a:r>
            <a:r>
              <a:rPr lang="zh-CN" altLang="en-US" b="1" i="0" dirty="0">
                <a:solidFill>
                  <a:srgbClr val="222222"/>
                </a:solidFill>
                <a:effectLst/>
                <a:latin typeface="arial" panose="020B0604020202020204" pitchFamily="34" charset="0"/>
              </a:rPr>
              <a:t>月</a:t>
            </a:r>
            <a:r>
              <a:rPr lang="en-US" altLang="zh-CN" b="1" i="0" dirty="0">
                <a:solidFill>
                  <a:srgbClr val="222222"/>
                </a:solidFill>
                <a:effectLst/>
                <a:latin typeface="arial" panose="020B0604020202020204" pitchFamily="34" charset="0"/>
              </a:rPr>
              <a:t>1</a:t>
            </a:r>
            <a:r>
              <a:rPr lang="zh-CN" altLang="en-US" b="1" i="0" dirty="0">
                <a:solidFill>
                  <a:srgbClr val="222222"/>
                </a:solidFill>
                <a:effectLst/>
                <a:latin typeface="arial" panose="020B0604020202020204" pitchFamily="34" charset="0"/>
              </a:rPr>
              <a:t>日，哈尔滨市松北区城市管理和行政综合执法局就此事发布通报，已责令当事人停止违法行为，对当事人进行立案调查。</a:t>
            </a:r>
            <a:endParaRPr lang="en-US" altLang="zh-CN" b="1" i="0" dirty="0">
              <a:solidFill>
                <a:srgbClr val="222222"/>
              </a:solidFill>
              <a:effectLst/>
              <a:latin typeface="arial" panose="020B0604020202020204" pitchFamily="34" charset="0"/>
            </a:endParaRPr>
          </a:p>
          <a:p>
            <a:pPr algn="l"/>
            <a:endParaRPr lang="zh-CN" altLang="en-US" b="0" i="0" dirty="0">
              <a:solidFill>
                <a:srgbClr val="222222"/>
              </a:solidFill>
              <a:effectLst/>
              <a:latin typeface="arial" panose="020B0604020202020204" pitchFamily="34" charset="0"/>
            </a:endParaRPr>
          </a:p>
          <a:p>
            <a:pPr marL="0" indent="0">
              <a:buNone/>
            </a:pPr>
            <a:endParaRPr lang="zh-CN" altLang="en-US" dirty="0"/>
          </a:p>
        </p:txBody>
      </p:sp>
      <p:pic>
        <p:nvPicPr>
          <p:cNvPr id="11" name="图片 10">
            <a:extLst>
              <a:ext uri="{FF2B5EF4-FFF2-40B4-BE49-F238E27FC236}">
                <a16:creationId xmlns:a16="http://schemas.microsoft.com/office/drawing/2014/main" id="{22DDC05A-5D7E-14F2-AAF6-2186DB992C2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004048" y="1196752"/>
            <a:ext cx="3788627" cy="4730926"/>
          </a:xfrm>
          <a:prstGeom prst="rect">
            <a:avLst/>
          </a:prstGeom>
          <a:noFill/>
          <a:ln>
            <a:noFill/>
          </a:ln>
        </p:spPr>
      </p:pic>
    </p:spTree>
    <p:extLst>
      <p:ext uri="{BB962C8B-B14F-4D97-AF65-F5344CB8AC3E}">
        <p14:creationId xmlns:p14="http://schemas.microsoft.com/office/powerpoint/2010/main" val="1005115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par>
                                <p:cTn id="13" presetID="6" presetClass="entr" presetSubtype="16"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circle(in)">
                                      <p:cBhvr>
                                        <p:cTn id="15"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BF0EEE-4AA0-2D2E-B284-32051651DB06}"/>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26696D65-B3A3-02FB-43C9-0F877278865C}"/>
              </a:ext>
            </a:extLst>
          </p:cNvPr>
          <p:cNvSpPr>
            <a:spLocks noGrp="1"/>
          </p:cNvSpPr>
          <p:nvPr>
            <p:ph idx="1"/>
          </p:nvPr>
        </p:nvSpPr>
        <p:spPr/>
        <p:txBody>
          <a:bodyPr>
            <a:normAutofit fontScale="25000" lnSpcReduction="20000"/>
          </a:bodyPr>
          <a:lstStyle/>
          <a:p>
            <a:pPr algn="l"/>
            <a:r>
              <a:rPr lang="zh-CN" altLang="en-US" sz="8000" b="1" i="0" dirty="0">
                <a:effectLst/>
                <a:latin typeface="arial" panose="020B0604020202020204" pitchFamily="34" charset="0"/>
              </a:rPr>
              <a:t>“</a:t>
            </a:r>
            <a:r>
              <a:rPr lang="en-US" altLang="zh-CN" sz="8000" b="1" i="0" dirty="0">
                <a:effectLst/>
                <a:latin typeface="arial" panose="020B0604020202020204" pitchFamily="34" charset="0"/>
              </a:rPr>
              <a:t>2023</a:t>
            </a:r>
            <a:r>
              <a:rPr lang="zh-CN" altLang="en-US" sz="8000" b="1" i="0" dirty="0">
                <a:effectLst/>
                <a:latin typeface="arial" panose="020B0604020202020204" pitchFamily="34" charset="0"/>
              </a:rPr>
              <a:t>年</a:t>
            </a:r>
            <a:r>
              <a:rPr lang="en-US" altLang="zh-CN" sz="8000" b="1" i="0" dirty="0">
                <a:effectLst/>
                <a:latin typeface="arial" panose="020B0604020202020204" pitchFamily="34" charset="0"/>
              </a:rPr>
              <a:t>1</a:t>
            </a:r>
            <a:r>
              <a:rPr lang="zh-CN" altLang="en-US" sz="8000" b="1" i="0" dirty="0">
                <a:effectLst/>
                <a:latin typeface="arial" panose="020B0604020202020204" pitchFamily="34" charset="0"/>
              </a:rPr>
              <a:t>月</a:t>
            </a:r>
            <a:r>
              <a:rPr lang="en-US" altLang="zh-CN" sz="8000" b="1" i="0" dirty="0">
                <a:effectLst/>
                <a:latin typeface="arial" panose="020B0604020202020204" pitchFamily="34" charset="0"/>
              </a:rPr>
              <a:t>22</a:t>
            </a:r>
            <a:r>
              <a:rPr lang="zh-CN" altLang="en-US" sz="8000" b="1" i="0" dirty="0">
                <a:effectLst/>
                <a:latin typeface="arial" panose="020B0604020202020204" pitchFamily="34" charset="0"/>
              </a:rPr>
              <a:t>日，河南三门峡惊现溺水事件：水库放水后，</a:t>
            </a:r>
            <a:r>
              <a:rPr lang="en-US" altLang="zh-CN" sz="8000" b="1" i="0" dirty="0">
                <a:effectLst/>
                <a:latin typeface="arial" panose="020B0604020202020204" pitchFamily="34" charset="0"/>
              </a:rPr>
              <a:t>9</a:t>
            </a:r>
            <a:r>
              <a:rPr lang="zh-CN" altLang="en-US" sz="8000" b="1" i="0" dirty="0">
                <a:effectLst/>
                <a:latin typeface="arial" panose="020B0604020202020204" pitchFamily="34" charset="0"/>
              </a:rPr>
              <a:t>人命悬一线！”</a:t>
            </a:r>
          </a:p>
          <a:p>
            <a:pPr algn="l"/>
            <a:r>
              <a:rPr lang="zh-CN" altLang="en-US" sz="8000" b="1" i="0" dirty="0">
                <a:effectLst/>
                <a:latin typeface="arial" panose="020B0604020202020204" pitchFamily="34" charset="0"/>
              </a:rPr>
              <a:t>想象在一个清澈的冬日，河南三门峡水库旁，家庭们聚集，或许是为了欣赏那湛蓝的湖面。孩子们戏水，大人们争论着哪里钓鱼更好。突然，巨大的水流涌出，原本欢乐的场景在瞬间转变为一片恐慌，</a:t>
            </a:r>
            <a:r>
              <a:rPr lang="en-US" altLang="zh-CN" sz="8000" b="1" i="0" dirty="0">
                <a:effectLst/>
                <a:latin typeface="arial" panose="020B0604020202020204" pitchFamily="34" charset="0"/>
              </a:rPr>
              <a:t>9</a:t>
            </a:r>
            <a:r>
              <a:rPr lang="zh-CN" altLang="en-US" sz="8000" b="1" i="0" dirty="0">
                <a:effectLst/>
                <a:latin typeface="arial" panose="020B0604020202020204" pitchFamily="34" charset="0"/>
              </a:rPr>
              <a:t>个生命如同失去了方向的群鸟，被激流所席卷。</a:t>
            </a:r>
            <a:endParaRPr lang="en-US" altLang="zh-CN" sz="8000" b="1" i="0" dirty="0">
              <a:effectLst/>
              <a:latin typeface="arial" panose="020B0604020202020204" pitchFamily="34" charset="0"/>
            </a:endParaRPr>
          </a:p>
          <a:p>
            <a:pPr algn="l"/>
            <a:endParaRPr lang="en-US" altLang="zh-CN" sz="8000" b="1" i="0" dirty="0">
              <a:effectLst/>
              <a:latin typeface="arial" panose="020B0604020202020204" pitchFamily="34" charset="0"/>
            </a:endParaRPr>
          </a:p>
          <a:p>
            <a:pPr algn="l"/>
            <a:r>
              <a:rPr lang="zh-CN" altLang="en-US" sz="8000" b="1" i="0" dirty="0">
                <a:effectLst/>
                <a:latin typeface="arial" panose="020B0604020202020204" pitchFamily="34" charset="0"/>
              </a:rPr>
              <a:t>“</a:t>
            </a:r>
            <a:r>
              <a:rPr lang="en-US" altLang="zh-CN" sz="8000" b="1" i="0" dirty="0">
                <a:effectLst/>
                <a:latin typeface="arial" panose="020B0604020202020204" pitchFamily="34" charset="0"/>
              </a:rPr>
              <a:t>2023</a:t>
            </a:r>
            <a:r>
              <a:rPr lang="zh-CN" altLang="en-US" sz="8000" b="1" i="0" dirty="0">
                <a:effectLst/>
                <a:latin typeface="arial" panose="020B0604020202020204" pitchFamily="34" charset="0"/>
              </a:rPr>
              <a:t>年</a:t>
            </a:r>
            <a:r>
              <a:rPr lang="en-US" altLang="zh-CN" sz="8000" b="1" i="0" dirty="0">
                <a:effectLst/>
                <a:latin typeface="arial" panose="020B0604020202020204" pitchFamily="34" charset="0"/>
              </a:rPr>
              <a:t>3</a:t>
            </a:r>
            <a:r>
              <a:rPr lang="zh-CN" altLang="en-US" sz="8000" b="1" i="0" dirty="0">
                <a:effectLst/>
                <a:latin typeface="arial" panose="020B0604020202020204" pitchFamily="34" charset="0"/>
              </a:rPr>
              <a:t>月</a:t>
            </a:r>
            <a:r>
              <a:rPr lang="en-US" altLang="zh-CN" sz="8000" b="1" i="0" dirty="0">
                <a:effectLst/>
                <a:latin typeface="arial" panose="020B0604020202020204" pitchFamily="34" charset="0"/>
              </a:rPr>
              <a:t>27</a:t>
            </a:r>
            <a:r>
              <a:rPr lang="zh-CN" altLang="en-US" sz="8000" b="1" i="0" dirty="0">
                <a:effectLst/>
                <a:latin typeface="arial" panose="020B0604020202020204" pitchFamily="34" charset="0"/>
              </a:rPr>
              <a:t>日，河北沧县拆除冷库火情：</a:t>
            </a:r>
            <a:r>
              <a:rPr lang="en-US" altLang="zh-CN" sz="8000" b="1" i="0" dirty="0">
                <a:effectLst/>
                <a:latin typeface="arial" panose="020B0604020202020204" pitchFamily="34" charset="0"/>
              </a:rPr>
              <a:t>11</a:t>
            </a:r>
            <a:r>
              <a:rPr lang="zh-CN" altLang="en-US" sz="8000" b="1" i="0" dirty="0">
                <a:effectLst/>
                <a:latin typeface="arial" panose="020B0604020202020204" pitchFamily="34" charset="0"/>
              </a:rPr>
              <a:t>人的生命被火焰带走！”沧县的一个冷库里，工人们正在辛勤工作。他们打趣、笑谈，享受着工作中的快乐。但突然，火苗蹿起，整个冷库被烈火所吞噬。</a:t>
            </a:r>
            <a:r>
              <a:rPr lang="en-US" altLang="zh-CN" sz="8000" b="1" i="0" dirty="0">
                <a:effectLst/>
                <a:latin typeface="arial" panose="020B0604020202020204" pitchFamily="34" charset="0"/>
              </a:rPr>
              <a:t>11</a:t>
            </a:r>
            <a:r>
              <a:rPr lang="zh-CN" altLang="en-US" sz="8000" b="1" i="0" dirty="0">
                <a:effectLst/>
                <a:latin typeface="arial" panose="020B0604020202020204" pitchFamily="34" charset="0"/>
              </a:rPr>
              <a:t>个生命在火海中挣扎，希望能再次看到家人的脸。</a:t>
            </a:r>
          </a:p>
          <a:p>
            <a:pPr algn="l"/>
            <a:endParaRPr lang="en-US" altLang="zh-CN" sz="8000" b="1" i="0" dirty="0">
              <a:effectLst/>
              <a:latin typeface="Arial" panose="020B0604020202020204" pitchFamily="34" charset="0"/>
            </a:endParaRPr>
          </a:p>
          <a:p>
            <a:pPr algn="l"/>
            <a:r>
              <a:rPr lang="en-US" altLang="zh-CN" sz="8000" b="1" i="0" dirty="0">
                <a:effectLst/>
                <a:latin typeface="Arial" panose="020B0604020202020204" pitchFamily="34" charset="0"/>
              </a:rPr>
              <a:t>2023</a:t>
            </a:r>
            <a:r>
              <a:rPr lang="zh-CN" altLang="en-US" sz="8000" b="1" i="0" dirty="0">
                <a:effectLst/>
                <a:latin typeface="Arial" panose="020B0604020202020204" pitchFamily="34" charset="0"/>
              </a:rPr>
              <a:t>年</a:t>
            </a:r>
            <a:r>
              <a:rPr lang="en-US" altLang="zh-CN" sz="8000" b="1" i="0" dirty="0">
                <a:effectLst/>
                <a:latin typeface="Arial" panose="020B0604020202020204" pitchFamily="34" charset="0"/>
              </a:rPr>
              <a:t>7</a:t>
            </a:r>
            <a:r>
              <a:rPr lang="zh-CN" altLang="en-US" sz="8000" b="1" i="0" dirty="0">
                <a:effectLst/>
                <a:latin typeface="Arial" panose="020B0604020202020204" pitchFamily="34" charset="0"/>
              </a:rPr>
              <a:t>月</a:t>
            </a:r>
            <a:r>
              <a:rPr lang="en-US" altLang="zh-CN" sz="8000" b="1" i="0" dirty="0">
                <a:effectLst/>
                <a:latin typeface="Arial" panose="020B0604020202020204" pitchFamily="34" charset="0"/>
              </a:rPr>
              <a:t>15</a:t>
            </a:r>
            <a:r>
              <a:rPr lang="zh-CN" altLang="en-US" sz="8000" b="1" i="0" dirty="0">
                <a:effectLst/>
                <a:latin typeface="Arial" panose="020B0604020202020204" pitchFamily="34" charset="0"/>
              </a:rPr>
              <a:t>日凌晨，湖南长沙某小区一电动车停车棚发生火灾，现场浓烟滚滚，据了解，一室外停车棚内，多辆电动自行车起火，共</a:t>
            </a:r>
            <a:r>
              <a:rPr lang="en-US" altLang="zh-CN" sz="8000" b="1" i="0" dirty="0">
                <a:effectLst/>
                <a:latin typeface="Arial" panose="020B0604020202020204" pitchFamily="34" charset="0"/>
              </a:rPr>
              <a:t>50</a:t>
            </a:r>
            <a:r>
              <a:rPr lang="zh-CN" altLang="en-US" sz="8000" b="1" i="0" dirty="0">
                <a:effectLst/>
                <a:latin typeface="Arial" panose="020B0604020202020204" pitchFamily="34" charset="0"/>
              </a:rPr>
              <a:t>余辆电动自行车被烧毁，万幸未造成人员伤亡，</a:t>
            </a:r>
            <a:endParaRPr lang="zh-CN" altLang="en-US" sz="8000" b="1" i="0" dirty="0">
              <a:effectLst/>
              <a:latin typeface="arial" panose="020B0604020202020204" pitchFamily="34" charset="0"/>
            </a:endParaRPr>
          </a:p>
          <a:p>
            <a:endParaRPr lang="zh-CN" altLang="en-US" dirty="0"/>
          </a:p>
        </p:txBody>
      </p:sp>
    </p:spTree>
    <p:extLst>
      <p:ext uri="{BB962C8B-B14F-4D97-AF65-F5344CB8AC3E}">
        <p14:creationId xmlns:p14="http://schemas.microsoft.com/office/powerpoint/2010/main" val="2761985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circle(in)">
                                      <p:cBhvr>
                                        <p:cTn id="10" dur="2000"/>
                                        <p:tgtEl>
                                          <p:spTgt spid="3">
                                            <p:txEl>
                                              <p:pRg st="1" end="1"/>
                                            </p:txEl>
                                          </p:spTgt>
                                        </p:tgtEl>
                                      </p:cBhvr>
                                    </p:animEffect>
                                  </p:childTnLst>
                                </p:cTn>
                              </p:par>
                              <p:par>
                                <p:cTn id="11" presetID="6" presetClass="entr" presetSubtype="16"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circle(in)">
                                      <p:cBhvr>
                                        <p:cTn id="13" dur="2000"/>
                                        <p:tgtEl>
                                          <p:spTgt spid="3">
                                            <p:txEl>
                                              <p:pRg st="3" end="3"/>
                                            </p:txEl>
                                          </p:spTgt>
                                        </p:tgtEl>
                                      </p:cBhvr>
                                    </p:animEffect>
                                  </p:childTnLst>
                                </p:cTn>
                              </p:par>
                              <p:par>
                                <p:cTn id="14" presetID="6" presetClass="entr" presetSubtype="16"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circle(in)">
                                      <p:cBhvr>
                                        <p:cTn id="16"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200" b="1" dirty="0"/>
              <a:t>如何看待下列问题？</a:t>
            </a:r>
          </a:p>
        </p:txBody>
      </p:sp>
      <p:sp>
        <p:nvSpPr>
          <p:cNvPr id="3" name="内容占位符 2"/>
          <p:cNvSpPr>
            <a:spLocks noGrp="1"/>
          </p:cNvSpPr>
          <p:nvPr>
            <p:ph idx="1"/>
          </p:nvPr>
        </p:nvSpPr>
        <p:spPr>
          <a:xfrm>
            <a:off x="467544" y="1124744"/>
            <a:ext cx="8229600" cy="4525963"/>
          </a:xfrm>
        </p:spPr>
        <p:txBody>
          <a:bodyPr>
            <a:noAutofit/>
          </a:bodyPr>
          <a:lstStyle/>
          <a:p>
            <a:pPr>
              <a:lnSpc>
                <a:spcPct val="105000"/>
              </a:lnSpc>
            </a:pPr>
            <a:r>
              <a:rPr lang="zh-CN" altLang="en-US" sz="2000" dirty="0"/>
              <a:t> </a:t>
            </a:r>
            <a:r>
              <a:rPr lang="zh-CN" altLang="en-US" sz="2400" b="1" dirty="0"/>
              <a:t>公车上该不该让座？</a:t>
            </a:r>
            <a:endParaRPr lang="en-US" altLang="zh-CN" sz="2400" b="1" dirty="0"/>
          </a:p>
          <a:p>
            <a:pPr>
              <a:lnSpc>
                <a:spcPct val="105000"/>
              </a:lnSpc>
            </a:pPr>
            <a:r>
              <a:rPr lang="zh-CN" altLang="en-US" sz="2400" b="1" dirty="0"/>
              <a:t>你如何看待“有毒食品”？</a:t>
            </a:r>
            <a:endParaRPr lang="en-US" altLang="zh-CN" sz="2400" b="1" dirty="0"/>
          </a:p>
          <a:p>
            <a:pPr>
              <a:lnSpc>
                <a:spcPct val="115000"/>
              </a:lnSpc>
            </a:pPr>
            <a:r>
              <a:rPr lang="zh-CN" altLang="en-US" sz="2400" b="1" dirty="0"/>
              <a:t>作为广告人和商家，你为了提高产品销量，你做不做虚假广告？</a:t>
            </a:r>
            <a:endParaRPr lang="en-US" altLang="zh-CN" sz="2400" b="1" dirty="0"/>
          </a:p>
          <a:p>
            <a:pPr>
              <a:lnSpc>
                <a:spcPct val="115000"/>
              </a:lnSpc>
            </a:pPr>
            <a:r>
              <a:rPr lang="zh-CN" altLang="en-US" sz="2400" b="1" dirty="0">
                <a:solidFill>
                  <a:schemeClr val="accent2">
                    <a:lumMod val="50000"/>
                  </a:schemeClr>
                </a:solidFill>
              </a:rPr>
              <a:t>椰树集团在其官方微博上发布招聘广告，“入学就有车、有房、有高薪、肯定有美女帅哥追”等内容引发争议。据海南日报客户端</a:t>
            </a:r>
            <a:r>
              <a:rPr lang="en-US" altLang="zh-CN" sz="2400" b="1" dirty="0">
                <a:solidFill>
                  <a:schemeClr val="accent2">
                    <a:lumMod val="50000"/>
                  </a:schemeClr>
                </a:solidFill>
              </a:rPr>
              <a:t>2021</a:t>
            </a:r>
            <a:r>
              <a:rPr lang="zh-CN" altLang="en-US" sz="2400" b="1" dirty="0">
                <a:solidFill>
                  <a:schemeClr val="accent2">
                    <a:lumMod val="50000"/>
                  </a:schemeClr>
                </a:solidFill>
              </a:rPr>
              <a:t>年</a:t>
            </a:r>
            <a:r>
              <a:rPr lang="en-US" altLang="zh-CN" sz="2400" b="1" dirty="0">
                <a:solidFill>
                  <a:schemeClr val="accent2">
                    <a:lumMod val="50000"/>
                  </a:schemeClr>
                </a:solidFill>
              </a:rPr>
              <a:t>3</a:t>
            </a:r>
            <a:r>
              <a:rPr lang="zh-CN" altLang="en-US" sz="2400" b="1" dirty="0">
                <a:solidFill>
                  <a:schemeClr val="accent2">
                    <a:lumMod val="50000"/>
                  </a:schemeClr>
                </a:solidFill>
              </a:rPr>
              <a:t>月</a:t>
            </a:r>
            <a:r>
              <a:rPr lang="en-US" altLang="zh-CN" sz="2400" b="1" dirty="0">
                <a:solidFill>
                  <a:schemeClr val="accent2">
                    <a:lumMod val="50000"/>
                  </a:schemeClr>
                </a:solidFill>
              </a:rPr>
              <a:t>31</a:t>
            </a:r>
            <a:r>
              <a:rPr lang="zh-CN" altLang="en-US" sz="2400" b="1" dirty="0">
                <a:solidFill>
                  <a:schemeClr val="accent2">
                    <a:lumMod val="50000"/>
                  </a:schemeClr>
                </a:solidFill>
              </a:rPr>
              <a:t>日消息，海南省市场监管局已于近日依法对椰树集团发布涉嫌违法广告的行为进行立案调查。</a:t>
            </a:r>
            <a:endParaRPr lang="en-US" altLang="zh-CN" sz="2400" b="1" dirty="0">
              <a:solidFill>
                <a:schemeClr val="accent2">
                  <a:lumMod val="50000"/>
                </a:schemeClr>
              </a:solidFill>
            </a:endParaRPr>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diamond(in)">
                                      <p:cBhvr>
                                        <p:cTn id="12" dur="2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diamond(in)">
                                      <p:cBhvr>
                                        <p:cTn id="17" dur="20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diamond(in)">
                                      <p:cBhvr>
                                        <p:cTn id="22" dur="20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diamond(in)">
                                      <p:cBhvr>
                                        <p:cTn id="27"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F93D9-26BA-5C7F-B58E-36BB40406E1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2AC4690-BC58-92AE-DA56-9FCBB81A78B3}"/>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E622D1B4-2470-EF41-9B58-6D0E1EDC6A73}"/>
              </a:ext>
            </a:extLst>
          </p:cNvPr>
          <p:cNvSpPr>
            <a:spLocks noGrp="1"/>
          </p:cNvSpPr>
          <p:nvPr>
            <p:ph idx="1"/>
          </p:nvPr>
        </p:nvSpPr>
        <p:spPr/>
        <p:txBody>
          <a:bodyPr>
            <a:normAutofit/>
          </a:bodyPr>
          <a:lstStyle/>
          <a:p>
            <a:pPr>
              <a:lnSpc>
                <a:spcPct val="125000"/>
              </a:lnSpc>
            </a:pPr>
            <a:r>
              <a:rPr lang="zh-CN" altLang="en-US" sz="2600" b="1" dirty="0"/>
              <a:t>德国纳粹科学家的毒气室</a:t>
            </a:r>
            <a:endParaRPr lang="en-US" altLang="zh-CN" sz="2600" b="1" dirty="0"/>
          </a:p>
          <a:p>
            <a:pPr>
              <a:lnSpc>
                <a:spcPct val="125000"/>
              </a:lnSpc>
            </a:pPr>
            <a:r>
              <a:rPr lang="zh-CN" altLang="en-US" sz="2600" b="1" dirty="0"/>
              <a:t>按照</a:t>
            </a:r>
            <a:r>
              <a:rPr lang="en-US" altLang="zh-CN" sz="2600" b="1" dirty="0"/>
              <a:t>《</a:t>
            </a:r>
            <a:r>
              <a:rPr lang="zh-CN" altLang="en-US" sz="2600" b="1" dirty="0"/>
              <a:t>犹太大屠杀百科全书</a:t>
            </a:r>
            <a:r>
              <a:rPr lang="en-US" altLang="zh-CN" sz="2600" b="1" dirty="0"/>
              <a:t>》</a:t>
            </a:r>
            <a:r>
              <a:rPr lang="zh-CN" altLang="en-US" sz="2600" b="1" dirty="0"/>
              <a:t>的记载，大约从</a:t>
            </a:r>
            <a:r>
              <a:rPr lang="en-US" altLang="zh-CN" sz="2600" b="1" dirty="0"/>
              <a:t>1941</a:t>
            </a:r>
            <a:r>
              <a:rPr lang="zh-CN" altLang="en-US" sz="2600" b="1" dirty="0"/>
              <a:t>年开始。因为纳粹党卫军认为，使用毒气毒杀是完成「最终解决计划」最有效率的方式，所以开始在奥斯维辛集中营，实验用齐客隆</a:t>
            </a:r>
            <a:r>
              <a:rPr lang="en-US" altLang="zh-CN" sz="2600" b="1" dirty="0"/>
              <a:t>B</a:t>
            </a:r>
            <a:r>
              <a:rPr lang="zh-CN" altLang="en-US" sz="2600" b="1" dirty="0"/>
              <a:t>毒气屠杀苏联战俘和患病的囚犯。而因为被证明是成本最低，效率最高的大规模屠杀方式，因而成为奥斯维辛屠杀犹太人的主要手段。</a:t>
            </a:r>
          </a:p>
          <a:p>
            <a:endParaRPr lang="zh-CN" altLang="en-US" dirty="0"/>
          </a:p>
        </p:txBody>
      </p:sp>
    </p:spTree>
    <p:extLst>
      <p:ext uri="{BB962C8B-B14F-4D97-AF65-F5344CB8AC3E}">
        <p14:creationId xmlns:p14="http://schemas.microsoft.com/office/powerpoint/2010/main" val="2837106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45027-852E-DE07-A39C-3B08F2F3CF8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16E0345-BF21-A366-1CE9-975EBBCEDF00}"/>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388DF0A9-068B-DC2D-9911-CC317FB4CA77}"/>
              </a:ext>
            </a:extLst>
          </p:cNvPr>
          <p:cNvSpPr>
            <a:spLocks noGrp="1"/>
          </p:cNvSpPr>
          <p:nvPr>
            <p:ph idx="1"/>
          </p:nvPr>
        </p:nvSpPr>
        <p:spPr>
          <a:xfrm>
            <a:off x="457200" y="1166018"/>
            <a:ext cx="8229600" cy="4525963"/>
          </a:xfrm>
        </p:spPr>
        <p:txBody>
          <a:bodyPr>
            <a:noAutofit/>
          </a:bodyPr>
          <a:lstStyle/>
          <a:p>
            <a:pPr>
              <a:lnSpc>
                <a:spcPct val="125000"/>
              </a:lnSpc>
            </a:pPr>
            <a:r>
              <a:rPr lang="zh-CN" altLang="en-US" sz="2000" b="1" dirty="0"/>
              <a:t>日本</a:t>
            </a:r>
            <a:r>
              <a:rPr lang="en-US" altLang="zh-CN" sz="2000" b="1" dirty="0"/>
              <a:t>731</a:t>
            </a:r>
            <a:r>
              <a:rPr lang="zh-CN" altLang="en-US" sz="2000" b="1" dirty="0"/>
              <a:t>部队的人体实验</a:t>
            </a:r>
            <a:endParaRPr lang="en-US" altLang="zh-CN" sz="2000" b="1" dirty="0"/>
          </a:p>
          <a:p>
            <a:pPr>
              <a:lnSpc>
                <a:spcPct val="125000"/>
              </a:lnSpc>
            </a:pPr>
            <a:r>
              <a:rPr lang="zh-CN" altLang="en-US" sz="2000" b="1" dirty="0"/>
              <a:t>据统计，二战期间，在日本</a:t>
            </a:r>
            <a:r>
              <a:rPr lang="en-US" altLang="zh-CN" sz="2000" b="1" dirty="0"/>
              <a:t>731</a:t>
            </a:r>
            <a:r>
              <a:rPr lang="zh-CN" altLang="en-US" sz="2000" b="1" dirty="0"/>
              <a:t>部队活体研究中死亡的中国人近万人，可只有三千人留下名字，被统计在册。</a:t>
            </a:r>
          </a:p>
          <a:p>
            <a:r>
              <a:rPr lang="zh-CN" altLang="en-US" sz="2000" b="1" dirty="0"/>
              <a:t>而罪犯不仅是日军，更多的是东京大学和京都大学来的医学教授、学生，日本将本国大量的学者教授聚集</a:t>
            </a:r>
          </a:p>
          <a:p>
            <a:r>
              <a:rPr lang="zh-CN" altLang="en-US" sz="2000" b="1" dirty="0"/>
              <a:t>其中以</a:t>
            </a:r>
            <a:r>
              <a:rPr lang="en-US" altLang="zh-CN" sz="2000" b="1" dirty="0"/>
              <a:t>731</a:t>
            </a:r>
            <a:r>
              <a:rPr lang="zh-CN" altLang="en-US" sz="2000" b="1" dirty="0"/>
              <a:t>部队的活体实验最为臭名昭著。例如在干燥实验中，日军将活人绑在柱子上，不分日夜地用热风将其“烘干”。</a:t>
            </a:r>
          </a:p>
          <a:p>
            <a:r>
              <a:rPr lang="zh-CN" altLang="en-US" sz="2000" b="1" dirty="0"/>
              <a:t>通常不到一天，人的身体就已经干巴巴像木乃伊，将这些干尸称重时，发现只有其原来体重的</a:t>
            </a:r>
            <a:r>
              <a:rPr lang="en-US" altLang="zh-CN" sz="2000" b="1" dirty="0"/>
              <a:t>22%</a:t>
            </a:r>
            <a:r>
              <a:rPr lang="zh-CN" altLang="en-US" sz="2000" b="1" dirty="0"/>
              <a:t>，以此证实人体含水量为</a:t>
            </a:r>
            <a:r>
              <a:rPr lang="en-US" altLang="zh-CN" sz="2000" b="1" dirty="0"/>
              <a:t>78%</a:t>
            </a:r>
            <a:r>
              <a:rPr lang="zh-CN" altLang="en-US" sz="2000" b="1" dirty="0"/>
              <a:t>。</a:t>
            </a:r>
          </a:p>
          <a:p>
            <a:r>
              <a:rPr lang="zh-CN" altLang="en-US" sz="2000" b="1" dirty="0"/>
              <a:t>细菌战研究是 </a:t>
            </a:r>
            <a:r>
              <a:rPr lang="en-US" altLang="zh-CN" sz="2000" b="1" dirty="0"/>
              <a:t>731 </a:t>
            </a:r>
            <a:r>
              <a:rPr lang="zh-CN" altLang="en-US" sz="2000" b="1" dirty="0"/>
              <a:t>部队的主要任务之一。该部队利用细菌和病毒等微生物进行武器研究，试图开发出一种可以大规模杀伤敌人的武器。</a:t>
            </a:r>
            <a:r>
              <a:rPr lang="en-US" altLang="zh-CN" sz="2000" b="1" dirty="0"/>
              <a:t>731 </a:t>
            </a:r>
            <a:r>
              <a:rPr lang="zh-CN" altLang="en-US" sz="2000" b="1" dirty="0"/>
              <a:t>部队进行的细菌战研究涉及到多种微生物，包括炭疽、鼠疫、霍乱和鼻疽等。</a:t>
            </a:r>
            <a:endParaRPr lang="en-US" altLang="zh-CN" sz="2000" b="1" dirty="0"/>
          </a:p>
          <a:p>
            <a:r>
              <a:rPr lang="zh-CN" altLang="en-US" sz="2000" b="1" dirty="0"/>
              <a:t>如今，哈尔滨仍留存着日军</a:t>
            </a:r>
            <a:r>
              <a:rPr lang="en-US" altLang="zh-CN" sz="2000" b="1" dirty="0"/>
              <a:t>731</a:t>
            </a:r>
            <a:r>
              <a:rPr lang="zh-CN" altLang="en-US" sz="2000" b="1" dirty="0"/>
              <a:t>部队人体实验的据点。</a:t>
            </a:r>
          </a:p>
        </p:txBody>
      </p:sp>
      <p:pic>
        <p:nvPicPr>
          <p:cNvPr id="5" name="图片 4">
            <a:extLst>
              <a:ext uri="{FF2B5EF4-FFF2-40B4-BE49-F238E27FC236}">
                <a16:creationId xmlns:a16="http://schemas.microsoft.com/office/drawing/2014/main" id="{2C76A237-7C94-B8B5-0817-1F5B012185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00080" y="27513"/>
            <a:ext cx="3343920" cy="1572687"/>
          </a:xfrm>
          <a:prstGeom prst="rect">
            <a:avLst/>
          </a:prstGeom>
        </p:spPr>
      </p:pic>
    </p:spTree>
    <p:extLst>
      <p:ext uri="{BB962C8B-B14F-4D97-AF65-F5344CB8AC3E}">
        <p14:creationId xmlns:p14="http://schemas.microsoft.com/office/powerpoint/2010/main" val="4065769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ircle(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ircle(in)">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circle(in)">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circle(in)">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circle(in)">
                                      <p:cBhvr>
                                        <p:cTn id="37" dur="2000"/>
                                        <p:tgtEl>
                                          <p:spTgt spid="3">
                                            <p:txEl>
                                              <p:pRg st="6" end="6"/>
                                            </p:txEl>
                                          </p:spTgt>
                                        </p:tgtEl>
                                      </p:cBhvr>
                                    </p:animEffect>
                                  </p:childTnLst>
                                </p:cTn>
                              </p:par>
                              <p:par>
                                <p:cTn id="38" presetID="6" presetClass="entr" presetSubtype="16" fill="hold" nodeType="with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circle(in)">
                                      <p:cBhvr>
                                        <p:cTn id="40"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pPr>
              <a:lnSpc>
                <a:spcPct val="125000"/>
              </a:lnSpc>
            </a:pPr>
            <a:r>
              <a:rPr lang="zh-CN" altLang="en-US" sz="2400" b="1" dirty="0"/>
              <a:t>多美滋奶粉风波</a:t>
            </a:r>
            <a:endParaRPr lang="en-US" altLang="zh-CN" sz="2400" b="1" dirty="0"/>
          </a:p>
          <a:p>
            <a:pPr>
              <a:lnSpc>
                <a:spcPct val="125000"/>
              </a:lnSpc>
            </a:pPr>
            <a:r>
              <a:rPr lang="zh-CN" altLang="en-US" sz="2400" b="1" dirty="0"/>
              <a:t>科学家用小白鼠、兔子、青蛙、猩猩做实验</a:t>
            </a:r>
            <a:endParaRPr lang="en-US" altLang="zh-CN" sz="2400" b="1" dirty="0"/>
          </a:p>
          <a:p>
            <a:pPr>
              <a:lnSpc>
                <a:spcPct val="125000"/>
              </a:lnSpc>
            </a:pPr>
            <a:r>
              <a:rPr lang="zh-CN" altLang="en-US" sz="2400" b="1" dirty="0"/>
              <a:t>医学临床实验</a:t>
            </a:r>
            <a:endParaRPr lang="en-US" altLang="zh-CN" sz="2400" b="1" dirty="0"/>
          </a:p>
          <a:p>
            <a:endParaRPr lang="zh-CN" altLang="en-US" b="1" dirty="0"/>
          </a:p>
          <a:p>
            <a:endParaRPr lang="zh-CN" altLang="en-US" dirty="0"/>
          </a:p>
        </p:txBody>
      </p:sp>
      <p:pic>
        <p:nvPicPr>
          <p:cNvPr id="5" name="图片 4">
            <a:extLst>
              <a:ext uri="{FF2B5EF4-FFF2-40B4-BE49-F238E27FC236}">
                <a16:creationId xmlns:a16="http://schemas.microsoft.com/office/drawing/2014/main" id="{43A6A08E-D94E-22BE-A97B-E40924278C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78286" y="3471690"/>
            <a:ext cx="3740273" cy="2498274"/>
          </a:xfrm>
          <a:prstGeom prst="rect">
            <a:avLst/>
          </a:prstGeom>
        </p:spPr>
      </p:pic>
      <p:pic>
        <p:nvPicPr>
          <p:cNvPr id="7" name="图片 6">
            <a:extLst>
              <a:ext uri="{FF2B5EF4-FFF2-40B4-BE49-F238E27FC236}">
                <a16:creationId xmlns:a16="http://schemas.microsoft.com/office/drawing/2014/main" id="{E5075879-29FE-E019-5895-8E34A5FD87E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6911" y="3471690"/>
            <a:ext cx="4441376" cy="249827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sz="2400" b="1" dirty="0"/>
              <a:t>梅西百货创始人斯特劳斯夫妇与“泰坦尼克号”沉入大西洋。</a:t>
            </a:r>
          </a:p>
          <a:p>
            <a:endParaRPr lang="zh-CN" altLang="en-US" dirty="0"/>
          </a:p>
        </p:txBody>
      </p:sp>
      <p:pic>
        <p:nvPicPr>
          <p:cNvPr id="4" name="图片 3" descr="timga.jpg"/>
          <p:cNvPicPr>
            <a:picLocks noChangeAspect="1"/>
          </p:cNvPicPr>
          <p:nvPr/>
        </p:nvPicPr>
        <p:blipFill>
          <a:blip r:embed="rId2" cstate="print"/>
          <a:stretch>
            <a:fillRect/>
          </a:stretch>
        </p:blipFill>
        <p:spPr>
          <a:xfrm>
            <a:off x="2285984" y="2143116"/>
            <a:ext cx="5991514" cy="4325125"/>
          </a:xfrm>
          <a:prstGeom prst="rect">
            <a:avLst/>
          </a:prstGeom>
        </p:spPr>
      </p:pic>
    </p:spTree>
  </p:cSld>
  <p:clrMapOvr>
    <a:masterClrMapping/>
  </p:clrMapOvr>
  <p:transition>
    <p:strips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amond(in)">
                                      <p:cBhvr>
                                        <p:cTn id="12"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endParaRPr lang="zh-CN" altLang="en-US" sz="2400" b="1" dirty="0"/>
          </a:p>
        </p:txBody>
      </p:sp>
      <p:sp>
        <p:nvSpPr>
          <p:cNvPr id="3" name="内容占位符 2"/>
          <p:cNvSpPr>
            <a:spLocks noGrp="1"/>
          </p:cNvSpPr>
          <p:nvPr>
            <p:ph idx="1"/>
          </p:nvPr>
        </p:nvSpPr>
        <p:spPr>
          <a:xfrm>
            <a:off x="428596" y="285728"/>
            <a:ext cx="8229600" cy="4525963"/>
          </a:xfrm>
        </p:spPr>
        <p:txBody>
          <a:bodyPr>
            <a:noAutofit/>
          </a:bodyPr>
          <a:lstStyle/>
          <a:p>
            <a:r>
              <a:rPr lang="zh-CN" altLang="en-US" sz="2000" b="1" dirty="0">
                <a:solidFill>
                  <a:srgbClr val="C00000"/>
                </a:solidFill>
              </a:rPr>
              <a:t>如何看待为了结束战争发明新式武器，给战败国人民带来灾难？</a:t>
            </a:r>
            <a:r>
              <a:rPr lang="zh-CN" altLang="en-US" sz="2000" b="1" dirty="0"/>
              <a:t>（如无人飞机）</a:t>
            </a:r>
          </a:p>
          <a:p>
            <a:r>
              <a:rPr lang="zh-CN" altLang="en-US" sz="2000" b="1" dirty="0"/>
              <a:t>人类武器发展史</a:t>
            </a:r>
            <a:endParaRPr lang="en-US" altLang="zh-CN" sz="2000" b="1" dirty="0"/>
          </a:p>
          <a:p>
            <a:r>
              <a:rPr lang="zh-CN" altLang="en-US" sz="2000" b="1" dirty="0"/>
              <a:t>公元前</a:t>
            </a:r>
          </a:p>
          <a:p>
            <a:r>
              <a:rPr lang="en-US" altLang="zh-CN" sz="2000" b="1" dirty="0"/>
              <a:t>50</a:t>
            </a:r>
            <a:r>
              <a:rPr lang="zh-CN" altLang="en-US" sz="2000" b="1" dirty="0"/>
              <a:t>万年前的木棒，是最早的矛</a:t>
            </a:r>
          </a:p>
          <a:p>
            <a:r>
              <a:rPr lang="zh-CN" altLang="en-US" sz="2000" b="1" dirty="0"/>
              <a:t>石斧、缚上尖锐石矛头的矛、弓箭、金属剑和盾（青铜制）、战车。</a:t>
            </a:r>
            <a:endParaRPr lang="en-US" altLang="zh-CN" sz="2000" b="1" dirty="0"/>
          </a:p>
          <a:p>
            <a:r>
              <a:rPr lang="zh-CN" altLang="en-US" sz="2000" b="1" dirty="0"/>
              <a:t>公元后</a:t>
            </a:r>
          </a:p>
          <a:p>
            <a:r>
              <a:rPr lang="en-US" altLang="zh-CN" sz="2000" b="1" dirty="0"/>
              <a:t>950</a:t>
            </a:r>
            <a:r>
              <a:rPr lang="zh-CN" altLang="en-US" sz="2000" b="1" dirty="0"/>
              <a:t>年 中国人用火药施放信号和制造烟火。</a:t>
            </a:r>
          </a:p>
          <a:p>
            <a:r>
              <a:rPr lang="en-US" altLang="zh-CN" sz="2000" b="1" dirty="0"/>
              <a:t>1250—1300</a:t>
            </a:r>
            <a:r>
              <a:rPr lang="zh-CN" altLang="en-US" sz="2000" b="1" dirty="0"/>
              <a:t>年 中国人可能开始使用青铜炮或铁炮。</a:t>
            </a:r>
          </a:p>
          <a:p>
            <a:r>
              <a:rPr lang="en-US" altLang="zh-CN" sz="2000" b="1" dirty="0"/>
              <a:t>1867</a:t>
            </a:r>
            <a:r>
              <a:rPr lang="zh-CN" altLang="en-US" sz="2000" b="1" dirty="0"/>
              <a:t>年 瑞典化学家</a:t>
            </a:r>
            <a:r>
              <a:rPr lang="zh-CN" altLang="en-US" sz="2000" b="1" dirty="0">
                <a:solidFill>
                  <a:srgbClr val="C00000"/>
                </a:solidFill>
              </a:rPr>
              <a:t>诺贝尔</a:t>
            </a:r>
            <a:r>
              <a:rPr lang="zh-CN" altLang="en-US" sz="2000" b="1" dirty="0"/>
              <a:t>发</a:t>
            </a:r>
            <a:r>
              <a:rPr lang="zh-CN" altLang="en-US" sz="2000" b="1" dirty="0">
                <a:solidFill>
                  <a:srgbClr val="C00000"/>
                </a:solidFill>
              </a:rPr>
              <a:t>明烈性炸药</a:t>
            </a:r>
            <a:r>
              <a:rPr lang="zh-CN" altLang="en-US" sz="2000" b="1" dirty="0"/>
              <a:t>。</a:t>
            </a:r>
            <a:endParaRPr lang="en-US" altLang="zh-CN" sz="2000" b="1" dirty="0"/>
          </a:p>
          <a:p>
            <a:r>
              <a:rPr lang="en-US" altLang="zh-CN" sz="2000" b="1" dirty="0"/>
              <a:t>1884</a:t>
            </a:r>
            <a:r>
              <a:rPr lang="zh-CN" altLang="en-US" sz="2000" b="1" dirty="0"/>
              <a:t>年 美裔英国人马可沁发明全自动机枪。</a:t>
            </a:r>
          </a:p>
          <a:p>
            <a:r>
              <a:rPr lang="en-US" altLang="zh-CN" sz="2000" b="1" dirty="0"/>
              <a:t>1927</a:t>
            </a:r>
            <a:r>
              <a:rPr lang="zh-CN" altLang="en-US" sz="2000" b="1" dirty="0"/>
              <a:t>年 美国制造的</a:t>
            </a:r>
            <a:r>
              <a:rPr lang="zh-CN" altLang="en-US" sz="2000" b="1" dirty="0">
                <a:solidFill>
                  <a:srgbClr val="C00000"/>
                </a:solidFill>
              </a:rPr>
              <a:t>航空母舰</a:t>
            </a:r>
            <a:r>
              <a:rPr lang="zh-CN" altLang="en-US" sz="2000" b="1" dirty="0"/>
              <a:t>萨拉托加号、列克星顿号竣工。</a:t>
            </a:r>
          </a:p>
          <a:p>
            <a:r>
              <a:rPr lang="en-US" altLang="zh-CN" sz="2000" b="1" dirty="0"/>
              <a:t>1945</a:t>
            </a:r>
            <a:r>
              <a:rPr lang="zh-CN" altLang="en-US" sz="2000" b="1" dirty="0"/>
              <a:t>年 美国向日本广岛投下第一颗</a:t>
            </a:r>
            <a:r>
              <a:rPr lang="zh-CN" altLang="en-US" sz="2000" b="1" dirty="0">
                <a:solidFill>
                  <a:srgbClr val="C00000"/>
                </a:solidFill>
              </a:rPr>
              <a:t>原子弹</a:t>
            </a:r>
            <a:r>
              <a:rPr lang="zh-CN" altLang="en-US" sz="2000" b="1" dirty="0"/>
              <a:t>。其爆炸威力相当于</a:t>
            </a:r>
            <a:r>
              <a:rPr lang="en-US" altLang="zh-CN" sz="2000" b="1" dirty="0"/>
              <a:t>2</a:t>
            </a:r>
            <a:r>
              <a:rPr lang="zh-CN" altLang="en-US" sz="2000" b="1" dirty="0"/>
              <a:t>万吨级</a:t>
            </a:r>
            <a:r>
              <a:rPr lang="en-US" altLang="zh-CN" sz="2000" b="1" dirty="0"/>
              <a:t>TNT</a:t>
            </a:r>
            <a:r>
              <a:rPr lang="zh-CN" altLang="en-US" sz="2000" b="1" dirty="0"/>
              <a:t>。</a:t>
            </a:r>
          </a:p>
          <a:p>
            <a:r>
              <a:rPr lang="en-US" altLang="zh-CN" sz="2000" b="1" dirty="0"/>
              <a:t>1952</a:t>
            </a:r>
            <a:r>
              <a:rPr lang="zh-CN" altLang="en-US" sz="2000" b="1" dirty="0"/>
              <a:t>年 美国在西太平洋第一次试爆</a:t>
            </a:r>
            <a:r>
              <a:rPr lang="zh-CN" altLang="en-US" sz="2000" b="1" dirty="0">
                <a:solidFill>
                  <a:srgbClr val="C00000"/>
                </a:solidFill>
              </a:rPr>
              <a:t>氢弹</a:t>
            </a:r>
            <a:r>
              <a:rPr lang="zh-CN" altLang="en-US" sz="2000" b="1" dirty="0"/>
              <a:t>。其爆炸威力为</a:t>
            </a:r>
            <a:r>
              <a:rPr lang="en-US" altLang="zh-CN" sz="2000" b="1" dirty="0"/>
              <a:t>1000</a:t>
            </a:r>
            <a:r>
              <a:rPr lang="zh-CN" altLang="en-US" sz="2000" b="1" dirty="0"/>
              <a:t>万吨级</a:t>
            </a:r>
            <a:r>
              <a:rPr lang="en-US" altLang="zh-CN" sz="2000" b="1" dirty="0"/>
              <a:t>TNT</a:t>
            </a:r>
            <a:r>
              <a:rPr lang="zh-CN" altLang="en-US" sz="2000" b="1" dirty="0"/>
              <a:t>。</a:t>
            </a:r>
          </a:p>
          <a:p>
            <a:r>
              <a:rPr lang="en-US" altLang="zh-CN" sz="2000" b="1" dirty="0"/>
              <a:t>1957</a:t>
            </a:r>
            <a:r>
              <a:rPr lang="zh-CN" altLang="en-US" sz="2000" b="1" dirty="0"/>
              <a:t>年 苏联发射第一个</a:t>
            </a:r>
            <a:r>
              <a:rPr lang="zh-CN" altLang="en-US" sz="2000" b="1" dirty="0">
                <a:solidFill>
                  <a:srgbClr val="C00000"/>
                </a:solidFill>
              </a:rPr>
              <a:t>洲际弹道导</a:t>
            </a:r>
            <a:r>
              <a:rPr lang="zh-CN" altLang="en-US" sz="2000" b="1" dirty="0"/>
              <a:t>弹</a:t>
            </a:r>
            <a:r>
              <a:rPr lang="en-US" altLang="zh-CN" sz="2000" b="1" dirty="0"/>
              <a:t>SS-6</a:t>
            </a:r>
            <a:r>
              <a:rPr lang="zh-CN" altLang="en-US" sz="2000" b="1" dirty="0"/>
              <a:t>型，射程</a:t>
            </a:r>
            <a:r>
              <a:rPr lang="en-US" altLang="zh-CN" sz="2000" b="1" dirty="0"/>
              <a:t>9600</a:t>
            </a:r>
            <a:r>
              <a:rPr lang="zh-CN" altLang="en-US" sz="2000" b="1" dirty="0"/>
              <a:t>公里。</a:t>
            </a:r>
          </a:p>
          <a:p>
            <a:r>
              <a:rPr lang="en-US" altLang="zh-CN" sz="2000" b="1" dirty="0"/>
              <a:t>1984</a:t>
            </a:r>
            <a:r>
              <a:rPr lang="zh-CN" altLang="en-US" sz="2000" b="1" dirty="0"/>
              <a:t>年 美国发展</a:t>
            </a:r>
            <a:r>
              <a:rPr lang="zh-CN" altLang="en-US" sz="2000" b="1" dirty="0">
                <a:solidFill>
                  <a:srgbClr val="C00000"/>
                </a:solidFill>
              </a:rPr>
              <a:t>反卫星导弹</a:t>
            </a:r>
            <a:r>
              <a:rPr lang="zh-CN" altLang="en-US" sz="2000" b="1" dirty="0"/>
              <a:t>。</a:t>
            </a:r>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amond(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amond(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amond(in)">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diamond(in)">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8" presetClass="entr" presetSubtype="16"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diamond(in)">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8" presetClass="entr" presetSubtype="16"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diamond(in)">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8" presetClass="entr" presetSubtype="16"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diamond(in)">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8" presetClass="entr" presetSubtype="16"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diamond(in)">
                                      <p:cBhvr>
                                        <p:cTn id="47" dur="20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8" presetClass="entr" presetSubtype="16"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diamond(in)">
                                      <p:cBhvr>
                                        <p:cTn id="52" dur="20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8" presetClass="entr" presetSubtype="16"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diamond(in)">
                                      <p:cBhvr>
                                        <p:cTn id="57" dur="20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8" presetClass="entr" presetSubtype="16"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diamond(in)">
                                      <p:cBhvr>
                                        <p:cTn id="62" dur="20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8" presetClass="entr" presetSubtype="16" fill="hold" grpId="0"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diamond(in)">
                                      <p:cBhvr>
                                        <p:cTn id="67" dur="2000"/>
                                        <p:tgtEl>
                                          <p:spTgt spid="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8" presetClass="entr" presetSubtype="16" fill="hold" grpId="0" nodeType="clickEffect">
                                  <p:stCondLst>
                                    <p:cond delay="0"/>
                                  </p:stCondLst>
                                  <p:childTnLst>
                                    <p:set>
                                      <p:cBhvr>
                                        <p:cTn id="71" dur="1" fill="hold">
                                          <p:stCondLst>
                                            <p:cond delay="0"/>
                                          </p:stCondLst>
                                        </p:cTn>
                                        <p:tgtEl>
                                          <p:spTgt spid="3">
                                            <p:txEl>
                                              <p:pRg st="13" end="13"/>
                                            </p:txEl>
                                          </p:spTgt>
                                        </p:tgtEl>
                                        <p:attrNameLst>
                                          <p:attrName>style.visibility</p:attrName>
                                        </p:attrNameLst>
                                      </p:cBhvr>
                                      <p:to>
                                        <p:strVal val="visible"/>
                                      </p:to>
                                    </p:set>
                                    <p:animEffect transition="in" filter="diamond(in)">
                                      <p:cBhvr>
                                        <p:cTn id="72" dur="2000"/>
                                        <p:tgtEl>
                                          <p:spTgt spid="3">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8" presetClass="entr" presetSubtype="16" fill="hold" grpId="0" nodeType="clickEffect">
                                  <p:stCondLst>
                                    <p:cond delay="0"/>
                                  </p:stCondLst>
                                  <p:childTnLst>
                                    <p:set>
                                      <p:cBhvr>
                                        <p:cTn id="76" dur="1" fill="hold">
                                          <p:stCondLst>
                                            <p:cond delay="0"/>
                                          </p:stCondLst>
                                        </p:cTn>
                                        <p:tgtEl>
                                          <p:spTgt spid="3">
                                            <p:txEl>
                                              <p:pRg st="14" end="14"/>
                                            </p:txEl>
                                          </p:spTgt>
                                        </p:tgtEl>
                                        <p:attrNameLst>
                                          <p:attrName>style.visibility</p:attrName>
                                        </p:attrNameLst>
                                      </p:cBhvr>
                                      <p:to>
                                        <p:strVal val="visible"/>
                                      </p:to>
                                    </p:set>
                                    <p:animEffect transition="in" filter="diamond(in)">
                                      <p:cBhvr>
                                        <p:cTn id="77" dur="20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67544" y="1196752"/>
            <a:ext cx="8229600" cy="4525963"/>
          </a:xfrm>
        </p:spPr>
        <p:txBody>
          <a:bodyPr>
            <a:normAutofit/>
          </a:bodyPr>
          <a:lstStyle/>
          <a:p>
            <a:r>
              <a:rPr lang="zh-CN" altLang="en-US" sz="2000" b="1" dirty="0">
                <a:solidFill>
                  <a:srgbClr val="FF0000"/>
                </a:solidFill>
              </a:rPr>
              <a:t>核武器</a:t>
            </a:r>
            <a:r>
              <a:rPr lang="zh-CN" altLang="en-US" sz="2000" b="1" dirty="0"/>
              <a:t>可以毁灭地球</a:t>
            </a:r>
            <a:r>
              <a:rPr lang="en-US" altLang="zh-CN" sz="2000" b="1" dirty="0"/>
              <a:t>N</a:t>
            </a:r>
            <a:r>
              <a:rPr lang="zh-CN" altLang="en-US" sz="2000" b="1" dirty="0"/>
              <a:t>次，核电站能解决人类能源危机。那核技术给人类带来的究竟是什么？</a:t>
            </a:r>
            <a:endParaRPr lang="en-US" altLang="zh-CN" sz="2000" b="1" dirty="0"/>
          </a:p>
          <a:p>
            <a:r>
              <a:rPr lang="zh-CN" altLang="en-US" sz="2000" b="1" dirty="0"/>
              <a:t>核冬天理论</a:t>
            </a:r>
            <a:endParaRPr lang="en-US" altLang="zh-CN" sz="2000" b="1" dirty="0"/>
          </a:p>
          <a:p>
            <a:r>
              <a:rPr lang="zh-CN" altLang="en-US" sz="2000" b="1" dirty="0"/>
              <a:t>有核国家：</a:t>
            </a:r>
            <a:r>
              <a:rPr lang="zh-CN" altLang="zh-CN" sz="2200" b="1" dirty="0"/>
              <a:t>联合国安全理事会</a:t>
            </a:r>
            <a:r>
              <a:rPr lang="en-US" altLang="zh-CN" sz="2200" b="1" dirty="0"/>
              <a:t>5</a:t>
            </a:r>
            <a:r>
              <a:rPr lang="zh-CN" altLang="zh-CN" sz="2200" b="1" dirty="0"/>
              <a:t>个常任理事国才是被普遍承认有核国家地位的国家</a:t>
            </a:r>
            <a:r>
              <a:rPr lang="zh-CN" altLang="en-US" sz="2200" b="1" dirty="0"/>
              <a:t>：</a:t>
            </a:r>
            <a:r>
              <a:rPr lang="zh-CN" altLang="zh-CN" sz="2200" b="1" dirty="0"/>
              <a:t>美国、俄罗斯、英国、法国、中国</a:t>
            </a:r>
          </a:p>
          <a:p>
            <a:r>
              <a:rPr lang="zh-CN" altLang="en-US" sz="2200" b="1" dirty="0"/>
              <a:t>其他：</a:t>
            </a:r>
            <a:r>
              <a:rPr lang="zh-CN" altLang="zh-CN" sz="2200" b="1" dirty="0"/>
              <a:t>印度、巴基斯坦、朝鲜</a:t>
            </a:r>
            <a:endParaRPr lang="en-US" altLang="zh-CN" sz="2200" b="1" dirty="0"/>
          </a:p>
          <a:p>
            <a:r>
              <a:rPr lang="zh-CN" altLang="en-US" sz="2200" b="1" dirty="0"/>
              <a:t>可能拥有核武器的国家：</a:t>
            </a:r>
            <a:r>
              <a:rPr lang="zh-CN" altLang="zh-CN" sz="2000" b="1" dirty="0"/>
              <a:t>以色列、伊朗、日本</a:t>
            </a:r>
          </a:p>
          <a:p>
            <a:r>
              <a:rPr lang="zh-CN" altLang="en-US" sz="2200" b="1" dirty="0"/>
              <a:t>来自日本的核污染食品</a:t>
            </a:r>
            <a:endParaRPr lang="zh-CN" altLang="zh-CN" sz="2200" b="1" dirty="0"/>
          </a:p>
          <a:p>
            <a:endParaRPr lang="en-US" altLang="zh-CN" sz="2200" b="1" dirty="0"/>
          </a:p>
          <a:p>
            <a:endParaRPr lang="zh-CN" altLang="en-US" sz="2200" b="1" dirty="0"/>
          </a:p>
        </p:txBody>
      </p:sp>
      <p:pic>
        <p:nvPicPr>
          <p:cNvPr id="4" name="图片 3" descr="0e2442a7d933c895022ba63ddd1373f08202001a.jpg"/>
          <p:cNvPicPr>
            <a:picLocks noChangeAspect="1"/>
          </p:cNvPicPr>
          <p:nvPr/>
        </p:nvPicPr>
        <p:blipFill>
          <a:blip r:embed="rId2" cstate="print"/>
          <a:stretch>
            <a:fillRect/>
          </a:stretch>
        </p:blipFill>
        <p:spPr>
          <a:xfrm>
            <a:off x="5283448" y="3814103"/>
            <a:ext cx="3860552" cy="3043897"/>
          </a:xfrm>
          <a:prstGeom prst="rect">
            <a:avLst/>
          </a:prstGeom>
        </p:spPr>
      </p:pic>
      <p:sp>
        <p:nvSpPr>
          <p:cNvPr id="5" name="内容占位符 2"/>
          <p:cNvSpPr txBox="1"/>
          <p:nvPr/>
        </p:nvSpPr>
        <p:spPr>
          <a:xfrm>
            <a:off x="539552" y="4365104"/>
            <a:ext cx="4608512" cy="1872208"/>
          </a:xfrm>
          <a:prstGeom prst="rect">
            <a:avLst/>
          </a:prstGeom>
        </p:spPr>
        <p:txBody>
          <a:bodyPr vert="horz" lIns="91440" tIns="45720" rIns="91440" bIns="45720" rtlCol="0">
            <a:normAutofit fontScale="70000" lnSpcReduction="20000"/>
          </a:bodyPr>
          <a:lstStyle/>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kumimoji="0" lang="en-US" altLang="zh-CN" sz="2200" b="1"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zh-CN" altLang="en-US" sz="2200" b="1" i="0" u="none" strike="noStrike" kern="1200" cap="none" spc="0" normalizeH="0" baseline="0" noProof="0" dirty="0">
                <a:ln>
                  <a:noFill/>
                </a:ln>
                <a:solidFill>
                  <a:schemeClr val="tx1"/>
                </a:solidFill>
                <a:effectLst/>
                <a:uLnTx/>
                <a:uFillTx/>
                <a:latin typeface="+mn-lt"/>
                <a:ea typeface="+mn-ea"/>
                <a:cs typeface="+mn-cs"/>
              </a:rPr>
              <a:t>广东的核电站：大亚湾、岭澳一期已经运营多年了，岭澳二期核电站、阳江和台山一期正在建设中</a:t>
            </a:r>
            <a:br>
              <a:rPr kumimoji="0" lang="zh-CN" altLang="en-US" sz="2200" b="1" i="0" u="none" strike="noStrike" kern="1200" cap="none" spc="0" normalizeH="0" baseline="0" noProof="0" dirty="0">
                <a:ln>
                  <a:noFill/>
                </a:ln>
                <a:solidFill>
                  <a:schemeClr val="tx1"/>
                </a:solidFill>
                <a:effectLst/>
                <a:uLnTx/>
                <a:uFillTx/>
                <a:latin typeface="+mn-lt"/>
                <a:ea typeface="+mn-ea"/>
                <a:cs typeface="+mn-cs"/>
              </a:rPr>
            </a:br>
            <a:r>
              <a:rPr kumimoji="0" lang="zh-CN" altLang="en-US" sz="2200" b="1" i="0" u="none" strike="noStrike" kern="1200" cap="none" spc="0" normalizeH="0" baseline="0" noProof="0" dirty="0">
                <a:ln>
                  <a:noFill/>
                </a:ln>
                <a:solidFill>
                  <a:schemeClr val="tx1"/>
                </a:solidFill>
                <a:effectLst/>
                <a:uLnTx/>
                <a:uFillTx/>
                <a:latin typeface="+mn-lt"/>
                <a:ea typeface="+mn-ea"/>
                <a:cs typeface="+mn-cs"/>
              </a:rPr>
              <a:t>未来有：陆风核电站一期、 海丰核电站、</a:t>
            </a:r>
            <a:r>
              <a:rPr kumimoji="0" lang="zh-CN" altLang="en-US" sz="2200" b="1" u="none" strike="noStrike" kern="1200" cap="none" spc="0" normalizeH="0" baseline="0" noProof="0" dirty="0">
                <a:ln>
                  <a:noFill/>
                </a:ln>
                <a:solidFill>
                  <a:schemeClr val="tx1"/>
                </a:solidFill>
                <a:effectLst/>
                <a:uLnTx/>
                <a:uFillTx/>
                <a:latin typeface="+mn-lt"/>
                <a:ea typeface="+mn-ea"/>
                <a:cs typeface="+mn-cs"/>
              </a:rPr>
              <a:t>揭阳核电站、韶关核电站、肇庆核电站。</a:t>
            </a:r>
            <a:endParaRPr kumimoji="0" lang="en-US" altLang="zh-CN" sz="2200" b="1" u="none" strike="noStrike" kern="1200" cap="none" spc="0" normalizeH="0" baseline="0" noProof="0" dirty="0">
              <a:ln>
                <a:noFill/>
              </a:ln>
              <a:solidFill>
                <a:schemeClr val="tx1"/>
              </a:solidFill>
              <a:effectLst/>
              <a:uLnTx/>
              <a:uFillTx/>
              <a:latin typeface="+mn-lt"/>
              <a:ea typeface="+mn-ea"/>
              <a:cs typeface="+mn-cs"/>
            </a:endParaRPr>
          </a:p>
          <a:p>
            <a:pPr marL="342900" lvl="0" indent="-342900">
              <a:spcBef>
                <a:spcPct val="20000"/>
              </a:spcBef>
              <a:buFont typeface="Arial" panose="020B0604020202020204" pitchFamily="34" charset="0"/>
              <a:buChar char="•"/>
              <a:defRPr/>
            </a:pPr>
            <a:r>
              <a:rPr lang="zh-CN" altLang="en-US" sz="2100" b="1" dirty="0"/>
              <a:t>中国最大核电站是秦山核电站。</a:t>
            </a:r>
            <a:endParaRPr lang="en-US" altLang="zh-CN" sz="2100" b="1" dirty="0"/>
          </a:p>
          <a:p>
            <a:pPr marL="342900" lvl="0" indent="-342900">
              <a:spcBef>
                <a:spcPct val="20000"/>
              </a:spcBef>
              <a:buFont typeface="Arial" panose="020B0604020202020204" pitchFamily="34" charset="0"/>
              <a:buChar char="•"/>
              <a:defRPr/>
            </a:pPr>
            <a:r>
              <a:rPr lang="zh-CN" altLang="en-US" sz="2100" b="1" dirty="0"/>
              <a:t>大亚湾核电站是中国大陆第一座大型商用核电站。</a:t>
            </a:r>
            <a:endParaRPr kumimoji="0" lang="zh-CN" altLang="en-US" sz="2100" b="1"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p:strip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amond(in)">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diamond(in)">
                                      <p:cBhvr>
                                        <p:cTn id="12" dur="2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diamond(in)">
                                      <p:cBhvr>
                                        <p:cTn id="17" dur="20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diamond(in)">
                                      <p:cBhvr>
                                        <p:cTn id="22" dur="20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diamond(in)">
                                      <p:cBhvr>
                                        <p:cTn id="27" dur="20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8" presetClass="entr" presetSubtype="16"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diamond(in)">
                                      <p:cBhvr>
                                        <p:cTn id="32" dur="20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8" presetClass="entr" presetSubtype="16"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diamond(in)">
                                      <p:cBhvr>
                                        <p:cTn id="37" dur="20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8" presetClass="entr" presetSubtype="16" fill="hold" grpId="0"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diamond(in)">
                                      <p:cBhvr>
                                        <p:cTn id="42" dur="2000"/>
                                        <p:tgtEl>
                                          <p:spTgt spid="5"/>
                                        </p:tgtEl>
                                      </p:cBhvr>
                                    </p:animEffect>
                                  </p:childTnLst>
                                </p:cTn>
                              </p:par>
                            </p:childTnLst>
                          </p:cTn>
                        </p:par>
                      </p:childTnLst>
                    </p:cTn>
                  </p:par>
                  <p:par>
                    <p:cTn id="43" fill="hold">
                      <p:stCondLst>
                        <p:cond delay="indefinite"/>
                      </p:stCondLst>
                      <p:childTnLst>
                        <p:par>
                          <p:cTn id="44" fill="hold">
                            <p:stCondLst>
                              <p:cond delay="0"/>
                            </p:stCondLst>
                            <p:childTnLst>
                              <p:par>
                                <p:cTn id="45" presetID="8" presetClass="entr" presetSubtype="16" fill="hold" nodeType="click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diamond(in)">
                                      <p:cBhvr>
                                        <p:cTn id="4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ln>
            <a:noFill/>
          </a:ln>
        </p:spPr>
        <p:txBody>
          <a:bodyPr>
            <a:normAutofit fontScale="55000" lnSpcReduction="20000"/>
          </a:bodyPr>
          <a:lstStyle/>
          <a:p>
            <a:r>
              <a:rPr lang="en-US" altLang="zh-CN" sz="3800" b="1" dirty="0"/>
              <a:t>2004</a:t>
            </a:r>
            <a:r>
              <a:rPr lang="zh-CN" altLang="en-US" sz="3800" b="1" dirty="0"/>
              <a:t>年</a:t>
            </a:r>
            <a:r>
              <a:rPr lang="en-US" altLang="zh-CN" sz="3800" b="1" dirty="0"/>
              <a:t>11</a:t>
            </a:r>
            <a:r>
              <a:rPr lang="zh-CN" altLang="en-US" sz="3800" b="1" dirty="0"/>
              <a:t>月，在伊拉克战场，美国一架无人驾驶飞机</a:t>
            </a:r>
            <a:r>
              <a:rPr lang="en-US" altLang="zh-CN" sz="3800" b="1" dirty="0"/>
              <a:t>(UAV)</a:t>
            </a:r>
            <a:r>
              <a:rPr lang="zh-CN" altLang="en-US" sz="3800" b="1" dirty="0"/>
              <a:t>在遥控指挥下，成功消灭了阻碍美国重新夺取费卢杰的一个迫击炮连。 </a:t>
            </a:r>
            <a:br>
              <a:rPr lang="zh-CN" altLang="en-US" sz="3800" b="1" dirty="0"/>
            </a:br>
            <a:br>
              <a:rPr lang="zh-CN" altLang="en-US" sz="3800" b="1" dirty="0"/>
            </a:br>
            <a:r>
              <a:rPr lang="en-US" altLang="zh-CN" sz="3800" b="1" dirty="0"/>
              <a:t>2005</a:t>
            </a:r>
            <a:r>
              <a:rPr lang="zh-CN" altLang="en-US" sz="3800" b="1" dirty="0"/>
              <a:t>年</a:t>
            </a:r>
            <a:r>
              <a:rPr lang="en-US" altLang="zh-CN" sz="3800" b="1" dirty="0"/>
              <a:t>5</a:t>
            </a:r>
            <a:r>
              <a:rPr lang="zh-CN" altLang="en-US" sz="3800" b="1" dirty="0"/>
              <a:t>月，美国</a:t>
            </a:r>
            <a:r>
              <a:rPr lang="en-US" altLang="zh-CN" sz="3800" b="1" dirty="0"/>
              <a:t>MQ-“</a:t>
            </a:r>
            <a:r>
              <a:rPr lang="zh-CN" altLang="en-US" sz="3800" b="1" dirty="0"/>
              <a:t>掠夺者”</a:t>
            </a:r>
            <a:r>
              <a:rPr lang="en-US" altLang="zh-CN" sz="3800" b="1" dirty="0"/>
              <a:t>(Predator)</a:t>
            </a:r>
            <a:r>
              <a:rPr lang="zh-CN" altLang="en-US" sz="3800" b="1" dirty="0"/>
              <a:t>无人驾驶飞机在巴基斯坦靠近阿富汗的边境地区发射导弹，击毙了一名基地组织高级头目。</a:t>
            </a:r>
            <a:br>
              <a:rPr lang="zh-CN" altLang="en-US" sz="3800" b="1" dirty="0"/>
            </a:br>
            <a:br>
              <a:rPr lang="zh-CN" altLang="en-US" sz="3800" b="1" dirty="0"/>
            </a:br>
            <a:r>
              <a:rPr lang="zh-CN" altLang="en-US" sz="3800" b="1" dirty="0"/>
              <a:t>诺伊尔</a:t>
            </a:r>
            <a:r>
              <a:rPr lang="en-US" altLang="zh-CN" sz="3800" b="1" dirty="0"/>
              <a:t>·</a:t>
            </a:r>
            <a:r>
              <a:rPr lang="zh-CN" altLang="en-US" sz="3800" b="1" dirty="0"/>
              <a:t>沙基介绍说，他已在人工智能领域工作了几十年，让机器人决定一个人的生死是很可怕的事情。他提醒说，随着技术的进步和成本的下降，机器人的军备竞赛将很难阻止。</a:t>
            </a:r>
            <a:r>
              <a:rPr lang="en-US" altLang="zh-CN" sz="3800" b="1" dirty="0"/>
              <a:t>2008</a:t>
            </a:r>
            <a:r>
              <a:rPr lang="zh-CN" altLang="en-US" sz="3800" b="1" dirty="0"/>
              <a:t>年</a:t>
            </a:r>
            <a:r>
              <a:rPr lang="en-US" altLang="zh-CN" sz="3800" b="1" dirty="0"/>
              <a:t>2</a:t>
            </a:r>
            <a:r>
              <a:rPr lang="zh-CN" altLang="en-US" sz="3800" b="1" dirty="0"/>
              <a:t>月，沙基预测说，随着美国、俄罗斯、日本、以色列等国家在无人战斗系统上研究和投入大幅度增加，能够自己决定什么时候开火的机器人将在十年内走上战场。同时，他也提醒，用机器人进行恐怖攻击代替自杀式炸弹将只是个时间问题。</a:t>
            </a:r>
            <a:endParaRPr lang="zh-CN" altLang="en-US" sz="3800" dirty="0"/>
          </a:p>
        </p:txBody>
      </p:sp>
    </p:spTree>
  </p:cSld>
  <p:clrMapOvr>
    <a:masterClrMapping/>
  </p:clrMapOvr>
  <p:transition>
    <p:strips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U105P28T3D560064F326DT20041109153056"/>
          <p:cNvPicPr>
            <a:picLocks noChangeAspect="1" noChangeArrowheads="1"/>
          </p:cNvPicPr>
          <p:nvPr/>
        </p:nvPicPr>
        <p:blipFill>
          <a:blip r:embed="rId2" cstate="print"/>
          <a:srcRect/>
          <a:stretch>
            <a:fillRect/>
          </a:stretch>
        </p:blipFill>
        <p:spPr bwMode="auto">
          <a:xfrm>
            <a:off x="6300788" y="1196752"/>
            <a:ext cx="2843212" cy="1579563"/>
          </a:xfrm>
          <a:prstGeom prst="rect">
            <a:avLst/>
          </a:prstGeom>
          <a:noFill/>
          <a:ln w="9525">
            <a:noFill/>
            <a:miter lim="800000"/>
            <a:headEnd/>
            <a:tailEnd/>
          </a:ln>
        </p:spPr>
      </p:pic>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a:xfrm>
            <a:off x="457200" y="1988840"/>
            <a:ext cx="8229600" cy="4525963"/>
          </a:xfrm>
        </p:spPr>
        <p:txBody>
          <a:bodyPr>
            <a:normAutofit fontScale="47500" lnSpcReduction="20000"/>
          </a:bodyPr>
          <a:lstStyle/>
          <a:p>
            <a:pPr>
              <a:lnSpc>
                <a:spcPct val="80000"/>
              </a:lnSpc>
            </a:pPr>
            <a:endParaRPr lang="en-US" altLang="zh-CN" sz="2000" dirty="0"/>
          </a:p>
          <a:p>
            <a:pPr>
              <a:lnSpc>
                <a:spcPct val="124000"/>
              </a:lnSpc>
            </a:pPr>
            <a:r>
              <a:rPr lang="zh-CN" altLang="en-US" sz="4200" b="1" dirty="0"/>
              <a:t>挑战人类</a:t>
            </a:r>
            <a:r>
              <a:rPr lang="en-US" altLang="zh-CN" sz="4200" b="1" dirty="0"/>
              <a:t>? </a:t>
            </a:r>
            <a:r>
              <a:rPr lang="zh-CN" altLang="en-US" sz="4200" b="1" dirty="0"/>
              <a:t>机器人威胁</a:t>
            </a:r>
          </a:p>
          <a:p>
            <a:pPr>
              <a:lnSpc>
                <a:spcPct val="124000"/>
              </a:lnSpc>
            </a:pPr>
            <a:r>
              <a:rPr lang="zh-CN" altLang="en-US" sz="4200" b="1" dirty="0"/>
              <a:t>机械公敌</a:t>
            </a:r>
            <a:r>
              <a:rPr lang="zh-CN" altLang="en-US" sz="4200" dirty="0"/>
              <a:t> </a:t>
            </a:r>
          </a:p>
          <a:p>
            <a:pPr>
              <a:lnSpc>
                <a:spcPct val="124000"/>
              </a:lnSpc>
            </a:pPr>
            <a:r>
              <a:rPr lang="en-US" altLang="zh-CN" sz="4200" b="1" dirty="0"/>
              <a:t>2004</a:t>
            </a:r>
            <a:r>
              <a:rPr lang="zh-CN" altLang="en-US" sz="4200" b="1" dirty="0"/>
              <a:t>年，由威尔</a:t>
            </a:r>
            <a:r>
              <a:rPr lang="en-US" altLang="zh-CN" sz="4200" b="1" dirty="0"/>
              <a:t>·</a:t>
            </a:r>
            <a:r>
              <a:rPr lang="zh-CN" altLang="en-US" sz="4200" b="1" dirty="0"/>
              <a:t>史密斯主演的美国影片</a:t>
            </a:r>
            <a:r>
              <a:rPr lang="en-US" altLang="zh-CN" sz="4200" b="1" dirty="0"/>
              <a:t>《</a:t>
            </a:r>
            <a:r>
              <a:rPr lang="zh-CN" altLang="en-US" sz="4200" b="1" dirty="0"/>
              <a:t>机械公敌</a:t>
            </a:r>
            <a:r>
              <a:rPr lang="en-US" altLang="zh-CN" sz="4200" b="1" dirty="0"/>
              <a:t>》</a:t>
            </a:r>
            <a:r>
              <a:rPr lang="zh-CN" altLang="en-US" sz="4200" b="1" dirty="0"/>
              <a:t>在全球上映，其中描述了芝加哥警探戴尔</a:t>
            </a:r>
            <a:r>
              <a:rPr lang="en-US" altLang="zh-CN" sz="4200" b="1" dirty="0"/>
              <a:t>·</a:t>
            </a:r>
            <a:r>
              <a:rPr lang="zh-CN" altLang="en-US" sz="4200" b="1" dirty="0"/>
              <a:t>史普纳对付学会了独立思考，脱离了人类控制的机器人</a:t>
            </a:r>
            <a:r>
              <a:rPr lang="en-US" altLang="zh-CN" sz="4200" b="1" dirty="0"/>
              <a:t>NS-5</a:t>
            </a:r>
            <a:r>
              <a:rPr lang="zh-CN" altLang="en-US" sz="4200" b="1" dirty="0"/>
              <a:t>的故事，最终人类战胜了机器人。</a:t>
            </a:r>
          </a:p>
          <a:p>
            <a:pPr>
              <a:lnSpc>
                <a:spcPct val="124000"/>
              </a:lnSpc>
            </a:pPr>
            <a:r>
              <a:rPr lang="en-US" altLang="zh-CN" sz="4200" b="1" dirty="0"/>
              <a:t>《</a:t>
            </a:r>
            <a:r>
              <a:rPr lang="zh-CN" altLang="en-US" sz="4200" b="1" dirty="0"/>
              <a:t>机械公敌</a:t>
            </a:r>
            <a:r>
              <a:rPr lang="en-US" altLang="zh-CN" sz="4200" b="1" dirty="0"/>
              <a:t>》</a:t>
            </a:r>
            <a:r>
              <a:rPr lang="zh-CN" altLang="en-US" sz="4200" b="1" dirty="0"/>
              <a:t>取材于阿西莫夫的科幻小说</a:t>
            </a:r>
            <a:r>
              <a:rPr lang="en-US" altLang="zh-CN" sz="4200" b="1" dirty="0"/>
              <a:t>《</a:t>
            </a:r>
            <a:r>
              <a:rPr lang="zh-CN" altLang="en-US" sz="4200" b="1" dirty="0"/>
              <a:t>我，机器人</a:t>
            </a:r>
            <a:r>
              <a:rPr lang="en-US" altLang="zh-CN" sz="4200" b="1" dirty="0"/>
              <a:t>》</a:t>
            </a:r>
            <a:r>
              <a:rPr lang="zh-CN" altLang="en-US" sz="4200" b="1" dirty="0"/>
              <a:t>。</a:t>
            </a:r>
          </a:p>
          <a:p>
            <a:pPr>
              <a:lnSpc>
                <a:spcPct val="124000"/>
              </a:lnSpc>
            </a:pPr>
            <a:r>
              <a:rPr lang="en-US" altLang="zh-CN" sz="4200" b="1" dirty="0"/>
              <a:t>1942</a:t>
            </a:r>
            <a:r>
              <a:rPr lang="zh-CN" altLang="en-US" sz="4200" b="1" dirty="0"/>
              <a:t>年，阿西莫夫在小说中提出“机器人三原则”</a:t>
            </a:r>
            <a:r>
              <a:rPr lang="en-US" altLang="zh-CN" sz="4200" b="1" dirty="0"/>
              <a:t>——</a:t>
            </a:r>
          </a:p>
          <a:p>
            <a:pPr>
              <a:lnSpc>
                <a:spcPct val="124000"/>
              </a:lnSpc>
            </a:pPr>
            <a:r>
              <a:rPr lang="en-US" altLang="zh-CN" sz="4200" b="1" dirty="0"/>
              <a:t>1) </a:t>
            </a:r>
            <a:r>
              <a:rPr lang="zh-CN" altLang="en-US" sz="4200" b="1" dirty="0"/>
              <a:t>机器人不应伤害人类，而且不能忽视机器人伤害人类；</a:t>
            </a:r>
          </a:p>
          <a:p>
            <a:pPr>
              <a:lnSpc>
                <a:spcPct val="124000"/>
              </a:lnSpc>
            </a:pPr>
            <a:r>
              <a:rPr lang="en-US" altLang="zh-CN" sz="4200" b="1" dirty="0"/>
              <a:t>2) </a:t>
            </a:r>
            <a:r>
              <a:rPr lang="zh-CN" altLang="en-US" sz="4200" b="1" dirty="0"/>
              <a:t>机器人应遵守人类的命令，与第一条违背的命令除外；</a:t>
            </a:r>
          </a:p>
          <a:p>
            <a:pPr>
              <a:lnSpc>
                <a:spcPct val="124000"/>
              </a:lnSpc>
            </a:pPr>
            <a:r>
              <a:rPr lang="en-US" altLang="zh-CN" sz="4200" b="1" dirty="0"/>
              <a:t>3)</a:t>
            </a:r>
            <a:r>
              <a:rPr lang="zh-CN" altLang="en-US" sz="4200" b="1" dirty="0"/>
              <a:t>机器人应能保护自己，与第一条相抵触者除外。 </a:t>
            </a:r>
          </a:p>
          <a:p>
            <a:pPr>
              <a:lnSpc>
                <a:spcPct val="124000"/>
              </a:lnSpc>
            </a:pPr>
            <a:r>
              <a:rPr lang="zh-CN" altLang="en-US" sz="4200" b="1" dirty="0"/>
              <a:t>阿西莫夫认为，有了这三个原则的限制，人类就可以和机器人无忧无虑的相处。</a:t>
            </a:r>
            <a:endParaRPr lang="en-US" altLang="zh-CN" sz="4200" b="1" dirty="0"/>
          </a:p>
        </p:txBody>
      </p:sp>
      <p:pic>
        <p:nvPicPr>
          <p:cNvPr id="4" name="Picture 4" descr="U111P28T3D442153F326DT20040713153728"/>
          <p:cNvPicPr>
            <a:picLocks noChangeAspect="1" noChangeArrowheads="1"/>
          </p:cNvPicPr>
          <p:nvPr/>
        </p:nvPicPr>
        <p:blipFill>
          <a:blip r:embed="rId3" cstate="print"/>
          <a:srcRect/>
          <a:stretch>
            <a:fillRect/>
          </a:stretch>
        </p:blipFill>
        <p:spPr bwMode="auto">
          <a:xfrm>
            <a:off x="4860032" y="1"/>
            <a:ext cx="1855076" cy="2770824"/>
          </a:xfrm>
          <a:prstGeom prst="rect">
            <a:avLst/>
          </a:prstGeom>
          <a:noFill/>
          <a:ln w="9525">
            <a:noFill/>
            <a:miter lim="800000"/>
            <a:headEnd/>
            <a:tailEnd/>
          </a:ln>
        </p:spPr>
      </p:pic>
    </p:spTree>
  </p:cSld>
  <p:clrMapOvr>
    <a:masterClrMapping/>
  </p:clrMapOvr>
  <p:transition>
    <p:strips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amond(in)">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amond(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amond(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amond(in)">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diamond(in)">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8" presetClass="entr" presetSubtype="16"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diamond(in)">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8" presetClass="entr" presetSubtype="16"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diamond(in)">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8" presetClass="entr" presetSubtype="16"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diamond(in)">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8" presetClass="entr" presetSubtype="16"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diamond(in)">
                                      <p:cBhvr>
                                        <p:cTn id="47" dur="20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8" presetClass="entr" presetSubtype="16"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diamond(in)">
                                      <p:cBhvr>
                                        <p:cTn id="52" dur="20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6" presetClass="entr" presetSubtype="16" fill="hold" nodeType="clickEffect">
                                  <p:stCondLst>
                                    <p:cond delay="0"/>
                                  </p:stCondLst>
                                  <p:childTnLst>
                                    <p:set>
                                      <p:cBhvr>
                                        <p:cTn id="56" dur="1" fill="hold">
                                          <p:stCondLst>
                                            <p:cond delay="0"/>
                                          </p:stCondLst>
                                        </p:cTn>
                                        <p:tgtEl>
                                          <p:spTgt spid="5"/>
                                        </p:tgtEl>
                                        <p:attrNameLst>
                                          <p:attrName>style.visibility</p:attrName>
                                        </p:attrNameLst>
                                      </p:cBhvr>
                                      <p:to>
                                        <p:strVal val="visible"/>
                                      </p:to>
                                    </p:set>
                                    <p:animEffect transition="in" filter="circle(in)">
                                      <p:cBhvr>
                                        <p:cTn id="5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1600200"/>
            <a:ext cx="6059016" cy="4525963"/>
          </a:xfrm>
        </p:spPr>
        <p:txBody>
          <a:bodyPr>
            <a:normAutofit fontScale="77500" lnSpcReduction="20000"/>
          </a:bodyPr>
          <a:lstStyle/>
          <a:p>
            <a:r>
              <a:rPr lang="zh-CN" altLang="zh-CN" b="1" dirty="0"/>
              <a:t>机器人的出现对人类来说，可谓是一个很大的帮助。</a:t>
            </a:r>
          </a:p>
          <a:p>
            <a:r>
              <a:rPr lang="zh-CN" altLang="zh-CN" b="1" dirty="0"/>
              <a:t>机器人</a:t>
            </a:r>
            <a:r>
              <a:rPr lang="en-US" altLang="zh-CN" b="1" dirty="0"/>
              <a:t>“</a:t>
            </a:r>
            <a:r>
              <a:rPr lang="zh-CN" altLang="zh-CN" b="1" dirty="0"/>
              <a:t>娇娇</a:t>
            </a:r>
            <a:r>
              <a:rPr lang="en-US" altLang="zh-CN" b="1" dirty="0"/>
              <a:t>”</a:t>
            </a:r>
            <a:r>
              <a:rPr lang="zh-CN" altLang="zh-CN" b="1" dirty="0"/>
              <a:t>是国内首个大规模投入到银行业中的实体机器人，是国内首个全面获准进入金融领域的智慧型服务机器人，被网友们称为</a:t>
            </a:r>
            <a:r>
              <a:rPr lang="en-US" altLang="zh-CN" b="1" dirty="0"/>
              <a:t>“</a:t>
            </a:r>
            <a:r>
              <a:rPr lang="zh-CN" altLang="zh-CN" b="1" dirty="0"/>
              <a:t>史上最萌大堂经理</a:t>
            </a:r>
            <a:r>
              <a:rPr lang="en-US" altLang="zh-CN" b="1" dirty="0"/>
              <a:t>”</a:t>
            </a:r>
            <a:r>
              <a:rPr lang="zh-CN" altLang="zh-CN" b="1" dirty="0"/>
              <a:t>。</a:t>
            </a:r>
            <a:endParaRPr lang="en-US" altLang="zh-CN" b="1" dirty="0"/>
          </a:p>
          <a:p>
            <a:r>
              <a:rPr lang="zh-CN" altLang="zh-CN" b="1" dirty="0"/>
              <a:t>下面这款机器人叫</a:t>
            </a:r>
            <a:r>
              <a:rPr lang="en-US" altLang="zh-CN" b="1" dirty="0"/>
              <a:t>“</a:t>
            </a:r>
            <a:r>
              <a:rPr lang="zh-CN" altLang="zh-CN" b="1" dirty="0"/>
              <a:t>机器人小胖</a:t>
            </a:r>
            <a:r>
              <a:rPr lang="en-US" altLang="zh-CN" b="1" dirty="0"/>
              <a:t>”</a:t>
            </a:r>
            <a:r>
              <a:rPr lang="zh-CN" altLang="zh-CN" b="1" dirty="0"/>
              <a:t>，小胖智能机器人是进化者公司专为</a:t>
            </a:r>
            <a:r>
              <a:rPr lang="en-US" altLang="zh-CN" b="1" dirty="0"/>
              <a:t>4~12</a:t>
            </a:r>
            <a:r>
              <a:rPr lang="zh-CN" altLang="zh-CN" b="1" dirty="0"/>
              <a:t>岁孩子设计的，智力水平和三到四岁孩子差不多，同时具备强大的语音交互功能，能根据主人要求自行走动，回答各种难题。可以在家长不在家的时候，提醒孩子按时作息，按时吃饭，做作业等！</a:t>
            </a:r>
          </a:p>
        </p:txBody>
      </p:sp>
      <p:pic>
        <p:nvPicPr>
          <p:cNvPr id="5" name="图片 4" descr="https://t10.baidu.com/it/u=2551931031,2172860540&amp;fm=173&amp;app=25&amp;f=JPEG?w=633&amp;h=868&amp;s=091032D95C937ECA6631E14C0300C0B2"/>
          <p:cNvPicPr/>
          <p:nvPr/>
        </p:nvPicPr>
        <p:blipFill>
          <a:blip r:embed="rId2" cstate="print"/>
          <a:srcRect/>
          <a:stretch>
            <a:fillRect/>
          </a:stretch>
        </p:blipFill>
        <p:spPr bwMode="auto">
          <a:xfrm>
            <a:off x="7171129" y="404664"/>
            <a:ext cx="1484833" cy="2619291"/>
          </a:xfrm>
          <a:prstGeom prst="rect">
            <a:avLst/>
          </a:prstGeom>
          <a:noFill/>
          <a:ln w="9525">
            <a:noFill/>
            <a:miter lim="800000"/>
            <a:headEnd/>
            <a:tailEnd/>
          </a:ln>
        </p:spPr>
      </p:pic>
      <p:pic>
        <p:nvPicPr>
          <p:cNvPr id="6" name="图片 5" descr="https://t12.baidu.com/it/u=712900721,3195736517&amp;fm=173&amp;app=25&amp;f=JPEG?w=640&amp;h=480&amp;s=E412319F4430738A4AC010F30100C032"/>
          <p:cNvPicPr/>
          <p:nvPr/>
        </p:nvPicPr>
        <p:blipFill>
          <a:blip r:embed="rId3" cstate="print"/>
          <a:srcRect/>
          <a:stretch>
            <a:fillRect/>
          </a:stretch>
        </p:blipFill>
        <p:spPr bwMode="auto">
          <a:xfrm>
            <a:off x="6598327" y="2715224"/>
            <a:ext cx="2630438" cy="1720801"/>
          </a:xfrm>
          <a:prstGeom prst="rect">
            <a:avLst/>
          </a:prstGeom>
          <a:noFill/>
          <a:ln w="9525">
            <a:noFill/>
            <a:miter lim="800000"/>
            <a:headEnd/>
            <a:tailEnd/>
          </a:ln>
        </p:spPr>
      </p:pic>
      <p:pic>
        <p:nvPicPr>
          <p:cNvPr id="7" name="图片 6">
            <a:extLst>
              <a:ext uri="{FF2B5EF4-FFF2-40B4-BE49-F238E27FC236}">
                <a16:creationId xmlns:a16="http://schemas.microsoft.com/office/drawing/2014/main" id="{DDE9E54B-4180-BFF0-F88C-2EF44402DFE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598327" y="4408375"/>
            <a:ext cx="2545673" cy="170955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par>
                                <p:cTn id="8" presetID="3" presetClass="entr" presetSubtype="1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blinds(horizontal)">
                                      <p:cBhvr>
                                        <p:cTn id="15" dur="500"/>
                                        <p:tgtEl>
                                          <p:spTgt spid="3">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blinds(horizontal)">
                                      <p:cBhvr>
                                        <p:cTn id="20" dur="500"/>
                                        <p:tgtEl>
                                          <p:spTgt spid="3">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blinds(horizontal)">
                                      <p:cBhvr>
                                        <p:cTn id="25" dur="500"/>
                                        <p:tgtEl>
                                          <p:spTgt spid="3">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6" presetClass="entr" presetSubtype="16" fill="hold"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circle(in)">
                                      <p:cBhvr>
                                        <p:cTn id="30"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zh-CN" altLang="zh-CN" sz="2400" b="1" dirty="0"/>
              <a:t>仿真机器人的诞生，可以说是人类又一大进步。他可以完全独立运行，可以完全独立跟各国的人去交流，跟真人的外形没什么区别。</a:t>
            </a:r>
            <a:endParaRPr lang="en-US" altLang="zh-CN" sz="2400" b="1" dirty="0"/>
          </a:p>
          <a:p>
            <a:r>
              <a:rPr lang="zh-CN" altLang="en-US" sz="2400" b="1" dirty="0"/>
              <a:t>如果有人操纵跟你一模一样的仿真机器人在遥远的地方发生了犯法行为，谁来承担责任？</a:t>
            </a:r>
          </a:p>
        </p:txBody>
      </p:sp>
      <p:pic>
        <p:nvPicPr>
          <p:cNvPr id="4" name="图片 3" descr="https://t11.baidu.com/it/u=445354135,4283153552&amp;fm=173&amp;app=25&amp;f=JPEG?w=400&amp;h=267&amp;s=3E236281401943D042053D7F03005032"/>
          <p:cNvPicPr/>
          <p:nvPr/>
        </p:nvPicPr>
        <p:blipFill>
          <a:blip r:embed="rId2" cstate="print"/>
          <a:srcRect/>
          <a:stretch>
            <a:fillRect/>
          </a:stretch>
        </p:blipFill>
        <p:spPr bwMode="auto">
          <a:xfrm>
            <a:off x="5076056" y="3501008"/>
            <a:ext cx="3810000" cy="25431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linds(horizontal)">
                                      <p:cBhvr>
                                        <p:cTn id="1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a:xfrm>
            <a:off x="467544" y="260648"/>
            <a:ext cx="8229600" cy="4525963"/>
          </a:xfrm>
        </p:spPr>
        <p:txBody>
          <a:bodyPr>
            <a:normAutofit fontScale="70000" lnSpcReduction="20000"/>
          </a:bodyPr>
          <a:lstStyle/>
          <a:p>
            <a:r>
              <a:rPr lang="zh-CN" altLang="en-US" b="1" dirty="0">
                <a:solidFill>
                  <a:srgbClr val="C00000"/>
                </a:solidFill>
              </a:rPr>
              <a:t>西班牙警方首次捣毁</a:t>
            </a:r>
            <a:r>
              <a:rPr lang="en-US" altLang="zh-CN" b="1" dirty="0">
                <a:solidFill>
                  <a:srgbClr val="C00000"/>
                </a:solidFill>
              </a:rPr>
              <a:t>3D</a:t>
            </a:r>
            <a:r>
              <a:rPr lang="zh-CN" altLang="en-US" b="1" dirty="0">
                <a:solidFill>
                  <a:srgbClr val="C00000"/>
                </a:solidFill>
              </a:rPr>
              <a:t>打印武器作坊 嫌犯被控非法持枪</a:t>
            </a:r>
            <a:endParaRPr lang="en-US" altLang="zh-CN" b="1" dirty="0">
              <a:solidFill>
                <a:srgbClr val="C00000"/>
              </a:solidFill>
            </a:endParaRPr>
          </a:p>
          <a:p>
            <a:r>
              <a:rPr lang="en-US" altLang="zh-CN" b="1" dirty="0"/>
              <a:t>2021</a:t>
            </a:r>
            <a:r>
              <a:rPr lang="zh-CN" altLang="en-US" b="1" dirty="0"/>
              <a:t>年</a:t>
            </a:r>
            <a:r>
              <a:rPr lang="en-US" altLang="zh-CN" b="1" dirty="0"/>
              <a:t>4</a:t>
            </a:r>
            <a:r>
              <a:rPr lang="zh-CN" altLang="en-US" b="1" dirty="0"/>
              <a:t>月</a:t>
            </a:r>
            <a:r>
              <a:rPr lang="en-US" altLang="zh-CN" b="1" dirty="0"/>
              <a:t>18</a:t>
            </a:r>
            <a:r>
              <a:rPr lang="zh-CN" altLang="en-US" b="1" dirty="0"/>
              <a:t>日，西班牙国家警察发表声明称，西班牙警方此前突袭了一家非法</a:t>
            </a:r>
            <a:r>
              <a:rPr lang="en-US" altLang="zh-CN" b="1" dirty="0"/>
              <a:t>3D</a:t>
            </a:r>
            <a:r>
              <a:rPr lang="zh-CN" altLang="en-US" b="1" dirty="0"/>
              <a:t>打印制作武器的作坊。</a:t>
            </a:r>
          </a:p>
          <a:p>
            <a:r>
              <a:rPr lang="zh-CN" altLang="en-US" b="1" dirty="0"/>
              <a:t>据了解，这是首次在西班牙发现这样的作坊，</a:t>
            </a:r>
            <a:r>
              <a:rPr lang="en-US" altLang="zh-CN" b="1" dirty="0"/>
              <a:t>3D</a:t>
            </a:r>
            <a:r>
              <a:rPr lang="zh-CN" altLang="en-US" b="1" dirty="0"/>
              <a:t>打印能够在几分钟内生产出武器部件。警方在突袭中缴获</a:t>
            </a:r>
            <a:r>
              <a:rPr lang="en-US" altLang="zh-CN" b="1" dirty="0"/>
              <a:t>19</a:t>
            </a:r>
            <a:r>
              <a:rPr lang="zh-CN" altLang="en-US" b="1" dirty="0"/>
              <a:t>个</a:t>
            </a:r>
            <a:r>
              <a:rPr lang="en-US" altLang="zh-CN" b="1" dirty="0"/>
              <a:t>3D</a:t>
            </a:r>
            <a:r>
              <a:rPr lang="zh-CN" altLang="en-US" b="1" dirty="0"/>
              <a:t>打印手枪框架、</a:t>
            </a:r>
            <a:r>
              <a:rPr lang="en-US" altLang="zh-CN" b="1" dirty="0"/>
              <a:t>9</a:t>
            </a:r>
            <a:r>
              <a:rPr lang="zh-CN" altLang="en-US" b="1" dirty="0"/>
              <a:t>个弹夹、</a:t>
            </a:r>
            <a:r>
              <a:rPr lang="en-US" altLang="zh-CN" b="1" dirty="0"/>
              <a:t>2</a:t>
            </a:r>
            <a:r>
              <a:rPr lang="zh-CN" altLang="en-US" b="1" dirty="0"/>
              <a:t>个消音器以及许多武器零件等。除了枪支零件，警方还发现了用于制造爆炸物的各种化学物质，包括黑火药和丙酮。</a:t>
            </a:r>
          </a:p>
          <a:p>
            <a:r>
              <a:rPr lang="zh-CN" altLang="en-US" b="1" dirty="0"/>
              <a:t>据了解，这一行动引发了西班牙警方的担忧，他们担心</a:t>
            </a:r>
            <a:r>
              <a:rPr lang="en-US" altLang="zh-CN" b="1" dirty="0"/>
              <a:t>3D</a:t>
            </a:r>
            <a:r>
              <a:rPr lang="zh-CN" altLang="en-US" b="1" dirty="0"/>
              <a:t>打印技术可能会让犯罪分子和恐怖分子，在不引起太多注意的情况下囤积枪支。声明说，警方是在专门监控网络活动的探员偶然发现有人在网上购买枪支零件和爆炸物时，才发现了嫌疑人的踪迹。</a:t>
            </a:r>
          </a:p>
          <a:p>
            <a:endParaRPr lang="zh-CN" altLang="en-US" dirty="0"/>
          </a:p>
        </p:txBody>
      </p:sp>
      <p:pic>
        <p:nvPicPr>
          <p:cNvPr id="5" name="图片 4" descr="src=http___n_sinaimg_cn_sinakd20210419ac_522_w850h472_20210419_fa91-knvsnuh5410024_jpg&amp;refer=http___n_sinaimg.jpg"/>
          <p:cNvPicPr>
            <a:picLocks noChangeAspect="1"/>
          </p:cNvPicPr>
          <p:nvPr/>
        </p:nvPicPr>
        <p:blipFill>
          <a:blip r:embed="rId2" cstate="print"/>
          <a:stretch>
            <a:fillRect/>
          </a:stretch>
        </p:blipFill>
        <p:spPr>
          <a:xfrm>
            <a:off x="3769944" y="4005064"/>
            <a:ext cx="4797991" cy="2664296"/>
          </a:xfrm>
          <a:prstGeom prst="rect">
            <a:avLst/>
          </a:prstGeom>
        </p:spPr>
      </p:pic>
      <p:pic>
        <p:nvPicPr>
          <p:cNvPr id="4" name="图片 3" descr="src=http___p1_itc_cn_images01_20210419_aef700b499894be28220015effc5cd4b_jpeg&amp;refer=http___p1_itc.jpg"/>
          <p:cNvPicPr>
            <a:picLocks noChangeAspect="1"/>
          </p:cNvPicPr>
          <p:nvPr/>
        </p:nvPicPr>
        <p:blipFill>
          <a:blip r:embed="rId3" cstate="print"/>
          <a:stretch>
            <a:fillRect/>
          </a:stretch>
        </p:blipFill>
        <p:spPr>
          <a:xfrm>
            <a:off x="899592" y="4005064"/>
            <a:ext cx="3521967" cy="26414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blinds(horizontal)">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blinds(horizontal)">
                                      <p:cBhvr>
                                        <p:cTn id="3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a:xfrm>
            <a:off x="500034" y="1071546"/>
            <a:ext cx="8229600" cy="4525963"/>
          </a:xfrm>
        </p:spPr>
        <p:txBody>
          <a:bodyPr>
            <a:normAutofit/>
          </a:bodyPr>
          <a:lstStyle/>
          <a:p>
            <a:r>
              <a:rPr lang="zh-CN" altLang="en-US" sz="2000" b="1" dirty="0">
                <a:ea typeface="楷体_GB2312" pitchFamily="49" charset="-122"/>
              </a:rPr>
              <a:t>一位５岁女孩患肾炎继发肾功能衰竭住院三年，一直做肾透析，等候肾移植。经父母商讨，同意家人进行活体移植。</a:t>
            </a:r>
          </a:p>
          <a:p>
            <a:r>
              <a:rPr lang="zh-CN" altLang="en-US" sz="2000" b="1" dirty="0">
                <a:ea typeface="楷体_GB2312" pitchFamily="49" charset="-122"/>
              </a:rPr>
              <a:t>经检查：其母因组织类型不符被排除，其弟年纪小也不适宜，其父符合。医生与其父商量用为供者，但其父经一番思考，决定不做供者，并恳请医生告诉他的家人他不适合作供者，因他怕家人指责他对子女没有感情，医生虽不大满意还是按照他的意图做了。</a:t>
            </a:r>
          </a:p>
          <a:p>
            <a:r>
              <a:rPr lang="zh-CN" altLang="en-US" sz="2000" b="1" dirty="0"/>
              <a:t>讨论：你同意其父的做法对吗？并说明理由。</a:t>
            </a:r>
          </a:p>
          <a:p>
            <a:pPr>
              <a:buNone/>
            </a:pPr>
            <a:endParaRPr lang="zh-CN" altLang="en-US" dirty="0"/>
          </a:p>
        </p:txBody>
      </p:sp>
      <p:sp>
        <p:nvSpPr>
          <p:cNvPr id="4" name="矩形 3"/>
          <p:cNvSpPr/>
          <p:nvPr/>
        </p:nvSpPr>
        <p:spPr>
          <a:xfrm>
            <a:off x="2286000" y="2517212"/>
            <a:ext cx="4572000" cy="412934"/>
          </a:xfrm>
          <a:prstGeom prst="rect">
            <a:avLst/>
          </a:prstGeom>
        </p:spPr>
        <p:txBody>
          <a:bodyPr>
            <a:spAutoFit/>
          </a:bodyPr>
          <a:lstStyle/>
          <a:p>
            <a:pPr>
              <a:lnSpc>
                <a:spcPct val="125000"/>
              </a:lnSpc>
            </a:pPr>
            <a:endParaRPr lang="en-US" altLang="zh-CN" b="1" dirty="0"/>
          </a:p>
        </p:txBody>
      </p:sp>
      <p:pic>
        <p:nvPicPr>
          <p:cNvPr id="5" name="图片 4" descr="QQ截图20130924162831.jpg"/>
          <p:cNvPicPr>
            <a:picLocks noChangeAspect="1"/>
          </p:cNvPicPr>
          <p:nvPr/>
        </p:nvPicPr>
        <p:blipFill>
          <a:blip r:embed="rId2" cstate="print"/>
          <a:srcRect/>
          <a:stretch>
            <a:fillRect/>
          </a:stretch>
        </p:blipFill>
        <p:spPr bwMode="auto">
          <a:xfrm>
            <a:off x="1357290" y="3714752"/>
            <a:ext cx="5541972" cy="2962827"/>
          </a:xfrm>
          <a:prstGeom prst="rect">
            <a:avLst/>
          </a:prstGeom>
          <a:noFill/>
          <a:ln w="9525">
            <a:noFill/>
            <a:miter lim="800000"/>
            <a:headEnd/>
            <a:tailEnd/>
          </a:ln>
        </p:spPr>
      </p:pic>
    </p:spTree>
  </p:cSld>
  <p:clrMapOvr>
    <a:masterClrMapping/>
  </p:clrMapOvr>
  <p:transition>
    <p:strip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amond(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amond(in)">
                                      <p:cBhvr>
                                        <p:cTn id="17" dur="2000"/>
                                        <p:tgtEl>
                                          <p:spTgt spid="3">
                                            <p:txEl>
                                              <p:pRg st="2" end="2"/>
                                            </p:txEl>
                                          </p:spTgt>
                                        </p:tgtEl>
                                      </p:cBhvr>
                                    </p:animEffect>
                                  </p:childTnLst>
                                </p:cTn>
                              </p:par>
                              <p:par>
                                <p:cTn id="18" presetID="8" presetClass="entr" presetSubtype="16" fill="hold"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diamond(in)">
                                      <p:cBhvr>
                                        <p:cTn id="20"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395536" y="332656"/>
            <a:ext cx="8229600" cy="4525963"/>
          </a:xfrm>
        </p:spPr>
        <p:txBody>
          <a:bodyPr>
            <a:noAutofit/>
          </a:bodyPr>
          <a:lstStyle/>
          <a:p>
            <a:r>
              <a:rPr lang="zh-CN" altLang="en-US" sz="2400" b="1" dirty="0"/>
              <a:t>“敢打孩子就离婚！”</a:t>
            </a:r>
            <a:endParaRPr lang="en-US" altLang="zh-CN" sz="2400" b="1" dirty="0"/>
          </a:p>
          <a:p>
            <a:r>
              <a:rPr lang="en-US" altLang="zh-CN" sz="2400" b="1" dirty="0"/>
              <a:t>2015</a:t>
            </a:r>
            <a:r>
              <a:rPr lang="zh-CN" altLang="en-US" sz="2400" b="1" dirty="0"/>
              <a:t>年，武汉一女子因头胎是女孩遭到婆婆白眼，好不容易怀上双胞胎，</a:t>
            </a:r>
            <a:r>
              <a:rPr lang="en-US" altLang="zh-CN" sz="2400" b="1" dirty="0"/>
              <a:t>4</a:t>
            </a:r>
            <a:r>
              <a:rPr lang="zh-CN" altLang="en-US" sz="2400" b="1" dirty="0"/>
              <a:t>个月后弟弟却得了白血病，如果捐骨髓就要打胎，女人最后如何选择？</a:t>
            </a:r>
            <a:br>
              <a:rPr lang="zh-CN" altLang="en-US" sz="2400" b="1" dirty="0"/>
            </a:br>
            <a:r>
              <a:rPr lang="zh-CN" altLang="en-US" sz="2400" b="1" dirty="0"/>
              <a:t>女子名叫柯茜，</a:t>
            </a:r>
            <a:r>
              <a:rPr lang="en-US" altLang="zh-CN" sz="2400" b="1" dirty="0"/>
              <a:t>2015</a:t>
            </a:r>
            <a:r>
              <a:rPr lang="zh-CN" altLang="en-US" sz="2400" b="1" dirty="0"/>
              <a:t>年的时候，正在家里养胎的她，突然得知，自己</a:t>
            </a:r>
            <a:r>
              <a:rPr lang="en-US" altLang="zh-CN" sz="2400" b="1" dirty="0"/>
              <a:t>22</a:t>
            </a:r>
            <a:r>
              <a:rPr lang="zh-CN" altLang="en-US" sz="2400" b="1" dirty="0"/>
              <a:t>岁的弟弟不幸患上了白血病。</a:t>
            </a:r>
            <a:endParaRPr lang="en-US" altLang="zh-CN" sz="2400" b="1" dirty="0"/>
          </a:p>
          <a:p>
            <a:r>
              <a:rPr lang="zh-CN" altLang="en-US" sz="2400" b="1" dirty="0"/>
              <a:t>在和丈夫商量后，小两口拿出了十万块钱的积蓄，用于给弟弟看病。</a:t>
            </a:r>
            <a:br>
              <a:rPr lang="zh-CN" altLang="en-US" sz="2400" b="1" dirty="0"/>
            </a:br>
            <a:r>
              <a:rPr lang="zh-CN" altLang="en-US" sz="2400" b="1" dirty="0"/>
              <a:t>然而，弟弟的病情进展的非常迅速，必须尽快进行骨髓移植手术，只是接受药物治疗的话，怕是坚持不了多长时间。</a:t>
            </a:r>
            <a:br>
              <a:rPr lang="zh-CN" altLang="en-US" sz="2400" b="1" dirty="0"/>
            </a:br>
            <a:r>
              <a:rPr lang="zh-CN" altLang="en-US" sz="2400" b="1" dirty="0"/>
              <a:t>医生告诉她，如果要进行骨髓捐献，就必须注射干细胞动员剂，而一旦注射此药，胎儿指定是活不下去的，所以，如果想要救弟弟，就必须先堕胎。</a:t>
            </a:r>
            <a:br>
              <a:rPr lang="zh-CN" altLang="en-US" sz="2400" b="1" dirty="0"/>
            </a:br>
            <a:endParaRPr lang="zh-CN" altLang="en-US" sz="24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amond(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amond(in)">
                                      <p:cBhvr>
                                        <p:cTn id="17"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lgn="l"/>
            <a:r>
              <a:rPr lang="zh-CN" altLang="en-US" sz="2400" b="1" dirty="0"/>
              <a:t>工程是什么？</a:t>
            </a:r>
            <a:br>
              <a:rPr lang="en-US" altLang="zh-CN" sz="2400" b="1" dirty="0"/>
            </a:br>
            <a:br>
              <a:rPr lang="en-US" altLang="zh-CN" sz="2400" b="1" dirty="0"/>
            </a:br>
            <a:r>
              <a:rPr lang="zh-CN" altLang="en-US" sz="2200" b="1" dirty="0"/>
              <a:t>世界著名工程</a:t>
            </a:r>
          </a:p>
        </p:txBody>
      </p:sp>
      <p:sp>
        <p:nvSpPr>
          <p:cNvPr id="3" name="内容占位符 2"/>
          <p:cNvSpPr>
            <a:spLocks noGrp="1"/>
          </p:cNvSpPr>
          <p:nvPr>
            <p:ph idx="1"/>
          </p:nvPr>
        </p:nvSpPr>
        <p:spPr/>
        <p:txBody>
          <a:bodyPr>
            <a:noAutofit/>
          </a:bodyPr>
          <a:lstStyle/>
          <a:p>
            <a:r>
              <a:rPr lang="en-US" altLang="zh-CN" sz="2000" b="1" dirty="0"/>
              <a:t>1</a:t>
            </a:r>
            <a:r>
              <a:rPr lang="zh-CN" altLang="zh-CN" sz="2000" b="1" dirty="0"/>
              <a:t>、棕榈岛（迪拜）：</a:t>
            </a:r>
            <a:endParaRPr lang="zh-CN" altLang="zh-CN" sz="2000" dirty="0"/>
          </a:p>
          <a:p>
            <a:r>
              <a:rPr lang="en-US" altLang="zh-CN" sz="2000" b="1" dirty="0"/>
              <a:t>2</a:t>
            </a:r>
            <a:r>
              <a:rPr lang="zh-CN" altLang="zh-CN" sz="2000" b="1" dirty="0"/>
              <a:t>、塞尔维亚输水道（西班牙）：</a:t>
            </a:r>
          </a:p>
          <a:p>
            <a:r>
              <a:rPr lang="en-US" altLang="zh-CN" sz="2000" b="1" dirty="0"/>
              <a:t>3</a:t>
            </a:r>
            <a:r>
              <a:rPr lang="zh-CN" altLang="zh-CN" sz="2000" b="1" dirty="0"/>
              <a:t>、万里长城（中国）：</a:t>
            </a:r>
            <a:endParaRPr lang="zh-CN" altLang="zh-CN" sz="2000" dirty="0"/>
          </a:p>
          <a:p>
            <a:r>
              <a:rPr lang="en-US" altLang="zh-CN" sz="2000" b="1" dirty="0"/>
              <a:t>4</a:t>
            </a:r>
            <a:r>
              <a:rPr lang="zh-CN" altLang="zh-CN" sz="2000" b="1" dirty="0"/>
              <a:t>、泰姬陵（印度阿格拉）：</a:t>
            </a:r>
            <a:endParaRPr lang="zh-CN" altLang="zh-CN" sz="2000" dirty="0"/>
          </a:p>
          <a:p>
            <a:r>
              <a:rPr lang="en-US" altLang="zh-CN" sz="2000" b="1" dirty="0"/>
              <a:t>5</a:t>
            </a:r>
            <a:r>
              <a:rPr lang="zh-CN" altLang="zh-CN" sz="2000" b="1" dirty="0"/>
              <a:t>、西伯利亚大铁路（俄罗斯）：</a:t>
            </a:r>
            <a:endParaRPr lang="zh-CN" altLang="zh-CN" sz="2000" dirty="0"/>
          </a:p>
          <a:p>
            <a:r>
              <a:rPr lang="en-US" altLang="zh-CN" sz="2000" b="1" dirty="0"/>
              <a:t>6</a:t>
            </a:r>
            <a:r>
              <a:rPr lang="zh-CN" altLang="zh-CN" sz="2000" b="1" dirty="0"/>
              <a:t>、哈利法塔（阿联酋国迪拜）：</a:t>
            </a:r>
            <a:endParaRPr lang="zh-CN" altLang="zh-CN" sz="2000" dirty="0"/>
          </a:p>
          <a:p>
            <a:r>
              <a:rPr lang="en-US" altLang="zh-CN" sz="2000" b="1" dirty="0"/>
              <a:t>7</a:t>
            </a:r>
            <a:r>
              <a:rPr lang="zh-CN" altLang="zh-CN" sz="2000" b="1" dirty="0"/>
              <a:t>、明石海峡大桥（日本）：</a:t>
            </a:r>
            <a:endParaRPr lang="zh-CN" altLang="zh-CN" sz="2000" dirty="0"/>
          </a:p>
          <a:p>
            <a:r>
              <a:rPr lang="en-US" altLang="zh-CN" sz="2000" b="1" dirty="0"/>
              <a:t>8</a:t>
            </a:r>
            <a:r>
              <a:rPr lang="zh-CN" altLang="zh-CN" sz="2000" b="1" dirty="0"/>
              <a:t>、东京天空树（日本）：</a:t>
            </a:r>
            <a:endParaRPr lang="zh-CN" altLang="zh-CN" sz="2000" dirty="0"/>
          </a:p>
          <a:p>
            <a:r>
              <a:rPr lang="en-US" altLang="zh-CN" sz="2000" b="1" dirty="0"/>
              <a:t>9</a:t>
            </a:r>
            <a:r>
              <a:rPr lang="zh-CN" altLang="zh-CN" sz="2000" b="1" dirty="0"/>
              <a:t>、国际空间站：</a:t>
            </a:r>
            <a:endParaRPr lang="zh-CN" altLang="zh-CN" sz="2000" dirty="0"/>
          </a:p>
          <a:p>
            <a:r>
              <a:rPr lang="en-US" altLang="zh-CN" sz="2000" b="1" dirty="0"/>
              <a:t>10</a:t>
            </a:r>
            <a:r>
              <a:rPr lang="zh-CN" altLang="zh-CN" sz="2000" b="1" dirty="0"/>
              <a:t>、特奥蒂瓦坎古城遗址（墨西哥）：</a:t>
            </a:r>
            <a:endParaRPr lang="zh-CN" altLang="zh-CN" sz="2000" dirty="0"/>
          </a:p>
          <a:p>
            <a:endParaRPr lang="zh-CN" altLang="zh-CN" sz="2000" dirty="0"/>
          </a:p>
          <a:p>
            <a:endParaRPr lang="zh-CN" altLang="en-US" sz="2000" dirty="0"/>
          </a:p>
        </p:txBody>
      </p:sp>
      <p:pic>
        <p:nvPicPr>
          <p:cNvPr id="4" name="图片 3" descr="http://file.tgimg.cn/Image/Show?fid=Wd%2fImages%2f6173753%2f53156179068-dbe08db3-81d6-4d67-a2e7-b1216159d2e0.jpg%40720w_1l">
            <a:hlinkClick r:id="rId2" tgtFrame="&quot;_blank&quot;" tooltip="&quot;点击查看原图&quot;"/>
          </p:cNvPr>
          <p:cNvPicPr/>
          <p:nvPr/>
        </p:nvPicPr>
        <p:blipFill>
          <a:blip r:embed="rId3" cstate="print"/>
          <a:srcRect/>
          <a:stretch>
            <a:fillRect/>
          </a:stretch>
        </p:blipFill>
        <p:spPr bwMode="auto">
          <a:xfrm>
            <a:off x="3571868" y="0"/>
            <a:ext cx="3667129" cy="2266951"/>
          </a:xfrm>
          <a:prstGeom prst="rect">
            <a:avLst/>
          </a:prstGeom>
          <a:noFill/>
          <a:ln w="9525">
            <a:noFill/>
            <a:miter lim="800000"/>
            <a:headEnd/>
            <a:tailEnd/>
          </a:ln>
        </p:spPr>
      </p:pic>
      <p:pic>
        <p:nvPicPr>
          <p:cNvPr id="5" name="图片 4" descr="http://file.tgimg.cn/Image/Show?fid=Wd%2fImages%2f6173753%2f11486174901-4ee2aab6-243d-49ba-8f3a-9257e55ab3cb.jpg%40720w_1l">
            <a:hlinkClick r:id="rId4" tgtFrame="&quot;_blank&quot;" tooltip="&quot;点击查看原图&quot;"/>
          </p:cNvPr>
          <p:cNvPicPr/>
          <p:nvPr/>
        </p:nvPicPr>
        <p:blipFill>
          <a:blip r:embed="rId5" cstate="print"/>
          <a:srcRect/>
          <a:stretch>
            <a:fillRect/>
          </a:stretch>
        </p:blipFill>
        <p:spPr bwMode="auto">
          <a:xfrm>
            <a:off x="4143372" y="1857364"/>
            <a:ext cx="3810005" cy="2166939"/>
          </a:xfrm>
          <a:prstGeom prst="rect">
            <a:avLst/>
          </a:prstGeom>
          <a:noFill/>
          <a:ln w="9525">
            <a:noFill/>
            <a:miter lim="800000"/>
            <a:headEnd/>
            <a:tailEnd/>
          </a:ln>
        </p:spPr>
      </p:pic>
      <p:pic>
        <p:nvPicPr>
          <p:cNvPr id="6" name="图片 5" descr="http://file.tgimg.cn/Image/Show?fid=Wd%2fImages%2f6173753%2f14506175203-01b5e2dc-2054-4d91-aa43-66f0c0af6944.jpg%40720w_1l">
            <a:hlinkClick r:id="rId6" tgtFrame="&quot;_blank&quot;" tooltip="&quot;点击查看原图&quot;"/>
          </p:cNvPr>
          <p:cNvPicPr/>
          <p:nvPr/>
        </p:nvPicPr>
        <p:blipFill>
          <a:blip r:embed="rId7" cstate="print"/>
          <a:srcRect/>
          <a:stretch>
            <a:fillRect/>
          </a:stretch>
        </p:blipFill>
        <p:spPr bwMode="auto">
          <a:xfrm>
            <a:off x="4929190" y="3071810"/>
            <a:ext cx="3429024" cy="2424113"/>
          </a:xfrm>
          <a:prstGeom prst="rect">
            <a:avLst/>
          </a:prstGeom>
          <a:noFill/>
          <a:ln w="9525">
            <a:noFill/>
            <a:miter lim="800000"/>
            <a:headEnd/>
            <a:tailEnd/>
          </a:ln>
        </p:spPr>
      </p:pic>
      <p:pic>
        <p:nvPicPr>
          <p:cNvPr id="8" name="图片 7" descr="http://file.tgimg.cn/Image/Show?fid=Wd%2fImages%2f6173753%2f70356180788-a0a2d58d-b0b8-4a24-bafd-102ecfddd5f8.jpg%40720w_1l">
            <a:hlinkClick r:id="rId8" tgtFrame="&quot;_blank&quot;" tooltip="&quot;点击查看原图&quot;"/>
          </p:cNvPr>
          <p:cNvPicPr/>
          <p:nvPr/>
        </p:nvPicPr>
        <p:blipFill>
          <a:blip r:embed="rId9" cstate="print"/>
          <a:srcRect/>
          <a:stretch>
            <a:fillRect/>
          </a:stretch>
        </p:blipFill>
        <p:spPr bwMode="auto">
          <a:xfrm>
            <a:off x="5643570" y="4700589"/>
            <a:ext cx="3186118" cy="2157411"/>
          </a:xfrm>
          <a:prstGeom prst="rect">
            <a:avLst/>
          </a:prstGeom>
          <a:noFill/>
          <a:ln w="9525">
            <a:noFill/>
            <a:miter lim="800000"/>
            <a:headEnd/>
            <a:tailEnd/>
          </a:ln>
        </p:spPr>
      </p:pic>
    </p:spTree>
  </p:cSld>
  <p:clrMapOvr>
    <a:masterClrMapping/>
  </p:clrMapOvr>
  <p:transition>
    <p:strips/>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http://file.tgimg.cn/Image/Show?fid=Wd%2fImages%2f6173753%2f39836177736-cee5a24b-394a-4b36-a319-fb7807cdbe38.jpg%40720w_1l">
            <a:hlinkClick r:id="rId2" tgtFrame="&quot;_blank&quot;" tooltip="&quot;点击查看原图&quot;"/>
          </p:cNvPr>
          <p:cNvPicPr/>
          <p:nvPr/>
        </p:nvPicPr>
        <p:blipFill>
          <a:blip r:embed="rId3" cstate="print"/>
          <a:srcRect/>
          <a:stretch>
            <a:fillRect/>
          </a:stretch>
        </p:blipFill>
        <p:spPr bwMode="auto">
          <a:xfrm>
            <a:off x="3643306" y="0"/>
            <a:ext cx="4286280" cy="2857496"/>
          </a:xfrm>
          <a:prstGeom prst="rect">
            <a:avLst/>
          </a:prstGeom>
          <a:noFill/>
          <a:ln w="9525">
            <a:noFill/>
            <a:miter lim="800000"/>
            <a:headEnd/>
            <a:tailEnd/>
          </a:ln>
        </p:spPr>
      </p:pic>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normAutofit fontScale="70000" lnSpcReduction="20000"/>
          </a:bodyPr>
          <a:lstStyle/>
          <a:p>
            <a:r>
              <a:rPr lang="en-US" altLang="zh-CN" b="1" dirty="0"/>
              <a:t>11</a:t>
            </a:r>
            <a:r>
              <a:rPr lang="zh-CN" altLang="zh-CN" b="1" dirty="0"/>
              <a:t>、巴拿马运河（巴拿马）</a:t>
            </a:r>
            <a:endParaRPr lang="zh-CN" altLang="zh-CN" dirty="0"/>
          </a:p>
          <a:p>
            <a:r>
              <a:rPr lang="en-US" altLang="zh-CN" b="1" dirty="0"/>
              <a:t>12</a:t>
            </a:r>
            <a:r>
              <a:rPr lang="zh-CN" altLang="zh-CN" b="1" dirty="0"/>
              <a:t>、台北</a:t>
            </a:r>
            <a:r>
              <a:rPr lang="en-US" altLang="zh-CN" b="1" dirty="0"/>
              <a:t>101</a:t>
            </a:r>
            <a:r>
              <a:rPr lang="zh-CN" altLang="zh-CN" b="1" dirty="0"/>
              <a:t>大楼（中国台湾）</a:t>
            </a:r>
            <a:endParaRPr lang="zh-CN" altLang="zh-CN" dirty="0"/>
          </a:p>
          <a:p>
            <a:r>
              <a:rPr lang="en-US" altLang="zh-CN" b="1" dirty="0"/>
              <a:t>13</a:t>
            </a:r>
            <a:r>
              <a:rPr lang="zh-CN" altLang="zh-CN" b="1" dirty="0"/>
              <a:t>、大峡谷空中走廊（美国）</a:t>
            </a:r>
            <a:endParaRPr lang="zh-CN" altLang="zh-CN" dirty="0"/>
          </a:p>
          <a:p>
            <a:r>
              <a:rPr lang="en-US" altLang="zh-CN" b="1" dirty="0"/>
              <a:t>14</a:t>
            </a:r>
            <a:r>
              <a:rPr lang="zh-CN" altLang="zh-CN" b="1" dirty="0"/>
              <a:t>、上海环球金融中心</a:t>
            </a:r>
            <a:r>
              <a:rPr lang="en-US" altLang="zh-CN" b="1" dirty="0"/>
              <a:t>(</a:t>
            </a:r>
            <a:r>
              <a:rPr lang="zh-CN" altLang="zh-CN" b="1" dirty="0"/>
              <a:t>中国</a:t>
            </a:r>
            <a:r>
              <a:rPr lang="en-US" altLang="zh-CN" b="1" dirty="0"/>
              <a:t>)</a:t>
            </a:r>
            <a:endParaRPr lang="zh-CN" altLang="zh-CN" dirty="0"/>
          </a:p>
          <a:p>
            <a:r>
              <a:rPr lang="en-US" altLang="zh-CN" b="1" dirty="0"/>
              <a:t>15</a:t>
            </a:r>
            <a:r>
              <a:rPr lang="zh-CN" altLang="zh-CN" b="1" dirty="0"/>
              <a:t>、米诺高架桥（法国）</a:t>
            </a:r>
            <a:endParaRPr lang="zh-CN" altLang="zh-CN" dirty="0"/>
          </a:p>
          <a:p>
            <a:r>
              <a:rPr lang="en-US" altLang="zh-CN" b="1" dirty="0"/>
              <a:t>16</a:t>
            </a:r>
            <a:r>
              <a:rPr lang="zh-CN" altLang="zh-CN" b="1" dirty="0"/>
              <a:t>、伦敦地铁系统（英国）</a:t>
            </a:r>
            <a:endParaRPr lang="zh-CN" altLang="zh-CN" dirty="0"/>
          </a:p>
          <a:p>
            <a:r>
              <a:rPr lang="en-US" altLang="zh-CN" b="1" dirty="0"/>
              <a:t>17</a:t>
            </a:r>
            <a:r>
              <a:rPr lang="zh-CN" altLang="zh-CN" b="1" dirty="0"/>
              <a:t>、关西机场（日本大阪）</a:t>
            </a:r>
            <a:endParaRPr lang="zh-CN" altLang="zh-CN" dirty="0"/>
          </a:p>
          <a:p>
            <a:r>
              <a:rPr lang="en-US" altLang="zh-CN" b="1" dirty="0"/>
              <a:t>18</a:t>
            </a:r>
            <a:r>
              <a:rPr lang="zh-CN" altLang="zh-CN" b="1" dirty="0"/>
              <a:t>、胡佛水坝（美国）</a:t>
            </a:r>
            <a:endParaRPr lang="zh-CN" altLang="zh-CN" dirty="0"/>
          </a:p>
          <a:p>
            <a:r>
              <a:rPr lang="en-US" altLang="zh-CN" b="1" dirty="0"/>
              <a:t>19</a:t>
            </a:r>
            <a:r>
              <a:rPr lang="zh-CN" altLang="zh-CN" b="1" dirty="0"/>
              <a:t>、吉萨金字塔（埃及）</a:t>
            </a:r>
            <a:endParaRPr lang="zh-CN" altLang="zh-CN" dirty="0"/>
          </a:p>
          <a:p>
            <a:r>
              <a:rPr lang="en-US" altLang="zh-CN" b="1" dirty="0"/>
              <a:t>20</a:t>
            </a:r>
            <a:r>
              <a:rPr lang="zh-CN" altLang="zh-CN" b="1" dirty="0"/>
              <a:t>、金门大桥（美国）</a:t>
            </a:r>
            <a:endParaRPr lang="zh-CN" altLang="zh-CN" dirty="0"/>
          </a:p>
          <a:p>
            <a:r>
              <a:rPr lang="en-US" altLang="zh-CN" b="1" dirty="0"/>
              <a:t>21</a:t>
            </a:r>
            <a:r>
              <a:rPr lang="zh-CN" altLang="zh-CN" b="1" dirty="0"/>
              <a:t>、埃菲尔铁塔（法国）</a:t>
            </a:r>
            <a:endParaRPr lang="zh-CN" altLang="zh-CN" dirty="0"/>
          </a:p>
          <a:p>
            <a:r>
              <a:rPr lang="en-US" altLang="zh-CN" b="1" dirty="0"/>
              <a:t>22</a:t>
            </a:r>
            <a:r>
              <a:rPr lang="zh-CN" altLang="zh-CN" b="1" dirty="0"/>
              <a:t>、联邦大桥（加拿大）</a:t>
            </a:r>
            <a:endParaRPr lang="zh-CN" altLang="zh-CN" dirty="0"/>
          </a:p>
          <a:p>
            <a:r>
              <a:rPr lang="en-US" altLang="zh-CN" b="1" dirty="0"/>
              <a:t>23</a:t>
            </a:r>
            <a:r>
              <a:rPr lang="zh-CN" altLang="zh-CN" b="1" dirty="0"/>
              <a:t>、罗马斗兽场（意大利）</a:t>
            </a:r>
            <a:endParaRPr lang="zh-CN" altLang="en-US" dirty="0"/>
          </a:p>
        </p:txBody>
      </p:sp>
      <p:pic>
        <p:nvPicPr>
          <p:cNvPr id="4" name="图片 3" descr="http://file.tgimg.cn/Image/Show?fid=Wd%2fImages%2f6173753%2f81796181932-d60e1863-0b85-430b-9e13-8d7aa40dd8fa.jpg%40720w_1l">
            <a:hlinkClick r:id="rId4" tgtFrame="&quot;_blank&quot;" tooltip="&quot;点击查看原图&quot;"/>
          </p:cNvPr>
          <p:cNvPicPr/>
          <p:nvPr/>
        </p:nvPicPr>
        <p:blipFill>
          <a:blip r:embed="rId5" cstate="print"/>
          <a:srcRect/>
          <a:stretch>
            <a:fillRect/>
          </a:stretch>
        </p:blipFill>
        <p:spPr bwMode="auto">
          <a:xfrm>
            <a:off x="4071934" y="2143116"/>
            <a:ext cx="4405300" cy="2643206"/>
          </a:xfrm>
          <a:prstGeom prst="rect">
            <a:avLst/>
          </a:prstGeom>
          <a:noFill/>
          <a:ln w="9525">
            <a:noFill/>
            <a:miter lim="800000"/>
            <a:headEnd/>
            <a:tailEnd/>
          </a:ln>
        </p:spPr>
      </p:pic>
      <p:pic>
        <p:nvPicPr>
          <p:cNvPr id="5" name="图片 4" descr="http://file.tgimg.cn/Image/Show?fid=Wd%2fImages%2f6173753%2f35576177310-498fd0f6-2827-4491-a6d2-a31866bccc00.jpg%40720w_1l">
            <a:hlinkClick r:id="rId6" tgtFrame="&quot;_blank&quot;" tooltip="&quot;点击查看原图&quot;"/>
          </p:cNvPr>
          <p:cNvPicPr/>
          <p:nvPr/>
        </p:nvPicPr>
        <p:blipFill>
          <a:blip r:embed="rId7" cstate="print"/>
          <a:srcRect/>
          <a:stretch>
            <a:fillRect/>
          </a:stretch>
        </p:blipFill>
        <p:spPr bwMode="auto">
          <a:xfrm>
            <a:off x="4643438" y="4071942"/>
            <a:ext cx="3214678" cy="2643182"/>
          </a:xfrm>
          <a:prstGeom prst="rect">
            <a:avLst/>
          </a:prstGeom>
          <a:noFill/>
          <a:ln w="9525">
            <a:noFill/>
            <a:miter lim="800000"/>
            <a:headEnd/>
            <a:tailEnd/>
          </a:ln>
        </p:spPr>
      </p:pic>
      <p:pic>
        <p:nvPicPr>
          <p:cNvPr id="7" name="图片 6" descr="http://file.tgimg.cn/Image/Show?fid=Wd%2fImages%2f6173753%2f11376174890-875daab9-c425-4e0c-b71f-10591b9d4bc9.jpg%40720w_1l">
            <a:hlinkClick r:id="rId8" tgtFrame="&quot;_blank&quot;" tooltip="&quot;点击查看原图&quot;"/>
          </p:cNvPr>
          <p:cNvPicPr/>
          <p:nvPr/>
        </p:nvPicPr>
        <p:blipFill>
          <a:blip r:embed="rId9" cstate="print"/>
          <a:srcRect/>
          <a:stretch>
            <a:fillRect/>
          </a:stretch>
        </p:blipFill>
        <p:spPr bwMode="auto">
          <a:xfrm>
            <a:off x="6643702" y="5143512"/>
            <a:ext cx="2500298" cy="1876424"/>
          </a:xfrm>
          <a:prstGeom prst="rect">
            <a:avLst/>
          </a:prstGeom>
          <a:noFill/>
          <a:ln w="9525">
            <a:noFill/>
            <a:miter lim="800000"/>
            <a:headEnd/>
            <a:tailEnd/>
          </a:ln>
        </p:spPr>
      </p:pic>
    </p:spTree>
  </p:cSld>
  <p:clrMapOvr>
    <a:masterClrMapping/>
  </p:clrMapOvr>
  <p:transition>
    <p:strips dir="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8596" y="0"/>
            <a:ext cx="8229600" cy="1143000"/>
          </a:xfrm>
        </p:spPr>
        <p:txBody>
          <a:bodyPr>
            <a:normAutofit/>
          </a:bodyPr>
          <a:lstStyle/>
          <a:p>
            <a:r>
              <a:rPr lang="zh-CN" altLang="en-US" sz="3600" b="1" dirty="0"/>
              <a:t>中国历史上的伟大工程</a:t>
            </a:r>
          </a:p>
        </p:txBody>
      </p:sp>
      <p:sp>
        <p:nvSpPr>
          <p:cNvPr id="3" name="内容占位符 2"/>
          <p:cNvSpPr>
            <a:spLocks noGrp="1"/>
          </p:cNvSpPr>
          <p:nvPr>
            <p:ph idx="1"/>
          </p:nvPr>
        </p:nvSpPr>
        <p:spPr>
          <a:xfrm>
            <a:off x="428596" y="1000108"/>
            <a:ext cx="8229600" cy="4525963"/>
          </a:xfrm>
        </p:spPr>
        <p:txBody>
          <a:bodyPr>
            <a:noAutofit/>
          </a:bodyPr>
          <a:lstStyle/>
          <a:p>
            <a:r>
              <a:rPr lang="zh-CN" altLang="zh-CN" sz="2000" b="1" dirty="0"/>
              <a:t>长城是中国也是世界上修建时间最长、工程量最大的一项古代防御工程。自公元前 七八世纪开始，延续不断修筑了</a:t>
            </a:r>
            <a:r>
              <a:rPr lang="en-US" altLang="zh-CN" sz="2000" b="1" dirty="0"/>
              <a:t>2000</a:t>
            </a:r>
            <a:r>
              <a:rPr lang="zh-CN" altLang="zh-CN" sz="2000" b="1" dirty="0"/>
              <a:t>多年，分布于中国北部和中部的广大土地上，总计 长度达</a:t>
            </a:r>
            <a:r>
              <a:rPr lang="en-US" altLang="zh-CN" sz="2000" b="1" dirty="0"/>
              <a:t>50000</a:t>
            </a:r>
            <a:r>
              <a:rPr lang="zh-CN" altLang="zh-CN" sz="2000" b="1" dirty="0"/>
              <a:t>多千米，被称之为“上下两千多年，纵横十万余里”。如此浩大的工程不仅 在中国就是在世界上，也是绝无仅有的，因而在几百年前就与罗马斗兽场、比萨斜塔等列 为中古世界七大奇迹之一。</a:t>
            </a:r>
          </a:p>
          <a:p>
            <a:r>
              <a:rPr lang="zh-CN" altLang="zh-CN" sz="2000" b="1" dirty="0"/>
              <a:t>长城修筑的历史 长城修筑的历史可上溯到公元前</a:t>
            </a:r>
            <a:r>
              <a:rPr lang="en-US" altLang="zh-CN" sz="2000" b="1" dirty="0"/>
              <a:t>9</a:t>
            </a:r>
            <a:r>
              <a:rPr lang="zh-CN" altLang="zh-CN" sz="2000" b="1" dirty="0"/>
              <a:t>世纪的西周时期，周王朝为了 防御北方游牧民族俨狁的袭击。曾筑连续排列的城堡“列城”以作防御。到了公元前七八 世纪，春秋战国时期列国诸侯为了相互争霸，互相防守，根据各自的防守需要，在自己的 边境上修筑起长城。这时长城的特点是东、南、西、北方向各不相 同，长度较短、从几百千米到</a:t>
            </a:r>
            <a:r>
              <a:rPr lang="en-US" altLang="zh-CN" sz="2000" b="1" dirty="0"/>
              <a:t>l000</a:t>
            </a:r>
            <a:r>
              <a:rPr lang="zh-CN" altLang="zh-CN" sz="2000" b="1" dirty="0"/>
              <a:t>～</a:t>
            </a:r>
            <a:r>
              <a:rPr lang="en-US" altLang="zh-CN" sz="2000" b="1" dirty="0"/>
              <a:t>2000</a:t>
            </a:r>
            <a:r>
              <a:rPr lang="zh-CN" altLang="zh-CN" sz="2000" b="1" dirty="0"/>
              <a:t>千米不等。</a:t>
            </a:r>
            <a:br>
              <a:rPr lang="en-US" altLang="zh-CN" sz="2000" b="1" dirty="0"/>
            </a:br>
            <a:r>
              <a:rPr lang="zh-CN" altLang="zh-CN" sz="2000" b="1" dirty="0"/>
              <a:t>公元前</a:t>
            </a:r>
            <a:r>
              <a:rPr lang="en-US" altLang="zh-CN" sz="2000" b="1" dirty="0"/>
              <a:t>221</a:t>
            </a:r>
            <a:r>
              <a:rPr lang="zh-CN" altLang="zh-CN" sz="2000" b="1" dirty="0"/>
              <a:t>年，秦始皇并灭了六国诸侯，统一了天下。为了巩固统一帝国的安全和生产的安 定，防御北方强大匈奴游牧民族奴隶主的侵扰，便大修长城。</a:t>
            </a:r>
            <a:endParaRPr lang="zh-CN" altLang="en-US" sz="2000" b="1" dirty="0"/>
          </a:p>
        </p:txBody>
      </p:sp>
    </p:spTree>
  </p:cSld>
  <p:clrMapOvr>
    <a:masterClrMapping/>
  </p:clrMapOvr>
  <p:transition>
    <p:strips dir="r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a:t>南水北调</a:t>
            </a:r>
            <a:endParaRPr lang="zh-CN" altLang="en-US" sz="3600" dirty="0"/>
          </a:p>
        </p:txBody>
      </p:sp>
      <p:sp>
        <p:nvSpPr>
          <p:cNvPr id="3" name="内容占位符 2"/>
          <p:cNvSpPr>
            <a:spLocks noGrp="1"/>
          </p:cNvSpPr>
          <p:nvPr>
            <p:ph idx="1"/>
          </p:nvPr>
        </p:nvSpPr>
        <p:spPr>
          <a:xfrm>
            <a:off x="357158" y="1142984"/>
            <a:ext cx="8229600" cy="4525963"/>
          </a:xfrm>
        </p:spPr>
        <p:txBody>
          <a:bodyPr>
            <a:normAutofit fontScale="85000" lnSpcReduction="10000"/>
          </a:bodyPr>
          <a:lstStyle/>
          <a:p>
            <a:r>
              <a:rPr lang="zh-CN" altLang="en-US" b="1" dirty="0"/>
              <a:t>南水北调工程是中国的战略性工程。是指把长江流域水资源自其上游、中游、下游，结合中国疆土地域特点，分东、中、西三线抽调部分送至华北与淮海平原和西北地区水资源短缺地区。</a:t>
            </a:r>
          </a:p>
          <a:p>
            <a:r>
              <a:rPr lang="zh-CN" altLang="en-US" b="1" dirty="0"/>
              <a:t>工程方案构想始于</a:t>
            </a:r>
            <a:r>
              <a:rPr lang="en-US" altLang="zh-CN" b="1" dirty="0"/>
              <a:t>1954</a:t>
            </a:r>
            <a:r>
              <a:rPr lang="zh-CN" altLang="en-US" b="1" dirty="0"/>
              <a:t>年国家主席毛泽东视察黄河时提出。自此，在历经分析比较</a:t>
            </a:r>
            <a:r>
              <a:rPr lang="en-US" altLang="zh-CN" b="1" dirty="0"/>
              <a:t>50</a:t>
            </a:r>
            <a:r>
              <a:rPr lang="zh-CN" altLang="en-US" b="1" dirty="0"/>
              <a:t>多种方案基础后，调水方案获得一大批富有价值的成果。工程规划区涉及人口</a:t>
            </a:r>
            <a:r>
              <a:rPr lang="en-US" altLang="zh-CN" b="1" dirty="0"/>
              <a:t>4.38</a:t>
            </a:r>
            <a:r>
              <a:rPr lang="zh-CN" altLang="en-US" b="1" dirty="0"/>
              <a:t>亿人，调水规模</a:t>
            </a:r>
            <a:r>
              <a:rPr lang="en-US" altLang="zh-CN" b="1" dirty="0"/>
              <a:t>448</a:t>
            </a:r>
            <a:r>
              <a:rPr lang="zh-CN" altLang="en-US" b="1" dirty="0"/>
              <a:t>亿立方米。工程规划的东、中、西线干线总长度达</a:t>
            </a:r>
            <a:r>
              <a:rPr lang="en-US" altLang="zh-CN" b="1" dirty="0"/>
              <a:t>4350</a:t>
            </a:r>
            <a:r>
              <a:rPr lang="zh-CN" altLang="en-US" b="1" dirty="0"/>
              <a:t>公里。 东、中线一期工程干线总长为</a:t>
            </a:r>
            <a:r>
              <a:rPr lang="en-US" altLang="zh-CN" b="1" dirty="0"/>
              <a:t>2899</a:t>
            </a:r>
            <a:r>
              <a:rPr lang="zh-CN" altLang="en-US" b="1" dirty="0"/>
              <a:t>公里</a:t>
            </a:r>
            <a:r>
              <a:rPr lang="en-US" altLang="zh-CN" b="1" dirty="0"/>
              <a:t>,</a:t>
            </a:r>
            <a:r>
              <a:rPr lang="zh-CN" altLang="en-US" b="1" dirty="0"/>
              <a:t>沿线六省市一级配套支渠约</a:t>
            </a:r>
            <a:r>
              <a:rPr lang="en-US" altLang="zh-CN" b="1" dirty="0"/>
              <a:t>2700</a:t>
            </a:r>
            <a:r>
              <a:rPr lang="zh-CN" altLang="en-US" b="1" dirty="0"/>
              <a:t>公里。</a:t>
            </a:r>
            <a:endParaRPr lang="zh-CN" altLang="en-US" dirty="0"/>
          </a:p>
        </p:txBody>
      </p:sp>
      <p:pic>
        <p:nvPicPr>
          <p:cNvPr id="4" name="图片 3" descr="640.jpg"/>
          <p:cNvPicPr>
            <a:picLocks noChangeAspect="1"/>
          </p:cNvPicPr>
          <p:nvPr/>
        </p:nvPicPr>
        <p:blipFill>
          <a:blip r:embed="rId2" cstate="print"/>
          <a:stretch>
            <a:fillRect/>
          </a:stretch>
        </p:blipFill>
        <p:spPr>
          <a:xfrm>
            <a:off x="5643570" y="5131324"/>
            <a:ext cx="3071802" cy="1726676"/>
          </a:xfrm>
          <a:prstGeom prst="rect">
            <a:avLst/>
          </a:prstGeom>
        </p:spPr>
      </p:pic>
      <p:pic>
        <p:nvPicPr>
          <p:cNvPr id="24578" name="Picture 2" descr="https://imgsa.baidu.com/baike/c0%3Dbaike92%2C5%2C5%2C92%2C30/sign=c09e631cdf88d43fe4a499a01c77b97e/58ee3d6d55fbb2fb7f8b9c7b464a20a44623dc33.jpg"/>
          <p:cNvPicPr>
            <a:picLocks noChangeAspect="1" noChangeArrowheads="1"/>
          </p:cNvPicPr>
          <p:nvPr/>
        </p:nvPicPr>
        <p:blipFill>
          <a:blip r:embed="rId3" cstate="print"/>
          <a:srcRect/>
          <a:stretch>
            <a:fillRect/>
          </a:stretch>
        </p:blipFill>
        <p:spPr bwMode="auto">
          <a:xfrm>
            <a:off x="2928926" y="5253654"/>
            <a:ext cx="2619340" cy="1604346"/>
          </a:xfrm>
          <a:prstGeom prst="rect">
            <a:avLst/>
          </a:prstGeom>
          <a:noFill/>
        </p:spPr>
      </p:pic>
    </p:spTree>
  </p:cSld>
  <p:clrMapOvr>
    <a:masterClrMapping/>
  </p:clrMapOvr>
  <p:transition>
    <p:strips dir="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a:t>高峡出平湖</a:t>
            </a:r>
            <a:r>
              <a:rPr lang="en-US" altLang="zh-CN" sz="3600" b="1" dirty="0"/>
              <a:t>——</a:t>
            </a:r>
            <a:r>
              <a:rPr lang="zh-CN" altLang="en-US" sz="3600" b="1" dirty="0"/>
              <a:t>三峡工程</a:t>
            </a:r>
          </a:p>
        </p:txBody>
      </p:sp>
      <p:sp>
        <p:nvSpPr>
          <p:cNvPr id="3" name="内容占位符 2"/>
          <p:cNvSpPr>
            <a:spLocks noGrp="1"/>
          </p:cNvSpPr>
          <p:nvPr>
            <p:ph idx="1"/>
          </p:nvPr>
        </p:nvSpPr>
        <p:spPr/>
        <p:txBody>
          <a:bodyPr>
            <a:normAutofit/>
          </a:bodyPr>
          <a:lstStyle/>
          <a:p>
            <a:r>
              <a:rPr lang="zh-CN" altLang="zh-CN" sz="2400" b="1" dirty="0"/>
              <a:t>三峡水电站，即长江三峡水利枢纽工程，又称三峡工程。中国湖北省宜昌市境内的长江西陵峡段与下游的葛洲坝水电站构成梯级电站。</a:t>
            </a:r>
          </a:p>
          <a:p>
            <a:r>
              <a:rPr lang="zh-CN" altLang="zh-CN" sz="2400" b="1" dirty="0"/>
              <a:t>三峡水电站是世界上规模最大的水电站，也是中国有史以来建设最大型的工程项目。而由它所引发的移民搬迁、环境等诸多问题，使它从开始筹建的那一刻起，便始终与巨大的争议相伴。三峡水电站的功能有十多种，航运、发电、种植等等。三峡水电站</a:t>
            </a:r>
            <a:r>
              <a:rPr lang="en-US" altLang="zh-CN" sz="2400" b="1" dirty="0"/>
              <a:t>1992</a:t>
            </a:r>
            <a:r>
              <a:rPr lang="zh-CN" altLang="zh-CN" sz="2400" b="1" dirty="0"/>
              <a:t>年获得中国全国人民代表大会批准建设，</a:t>
            </a:r>
            <a:r>
              <a:rPr lang="en-US" altLang="zh-CN" sz="2400" b="1" dirty="0"/>
              <a:t>1994</a:t>
            </a:r>
            <a:r>
              <a:rPr lang="zh-CN" altLang="zh-CN" sz="2400" b="1" dirty="0"/>
              <a:t>年正式动工兴建，</a:t>
            </a:r>
            <a:r>
              <a:rPr lang="en-US" altLang="zh-CN" sz="2400" b="1" dirty="0"/>
              <a:t>2003</a:t>
            </a:r>
            <a:r>
              <a:rPr lang="zh-CN" altLang="zh-CN" sz="2400" b="1" dirty="0"/>
              <a:t>年六月一日下午开始蓄水发电，于</a:t>
            </a:r>
            <a:r>
              <a:rPr lang="en-US" altLang="zh-CN" sz="2400" b="1" dirty="0"/>
              <a:t>2009</a:t>
            </a:r>
            <a:r>
              <a:rPr lang="zh-CN" altLang="zh-CN" sz="2400" b="1" dirty="0"/>
              <a:t>年全部完工。</a:t>
            </a:r>
            <a:endParaRPr lang="zh-CN" altLang="en-US" dirty="0"/>
          </a:p>
        </p:txBody>
      </p:sp>
    </p:spTree>
  </p:cSld>
  <p:clrMapOvr>
    <a:masterClrMapping/>
  </p:clrMapOvr>
  <p:transition>
    <p:strips dir="r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000" b="1" dirty="0"/>
              <a:t>都江堰   白起水淹郾城</a:t>
            </a:r>
          </a:p>
        </p:txBody>
      </p:sp>
      <p:pic>
        <p:nvPicPr>
          <p:cNvPr id="4" name="Picture 5" descr="cimg_catchpic_4_44_44897BB4FEBF1C5D687A2E7DFAEC392A"/>
          <p:cNvPicPr>
            <a:picLocks noGrp="1" noChangeAspect="1" noChangeArrowheads="1"/>
          </p:cNvPicPr>
          <p:nvPr>
            <p:ph idx="1"/>
          </p:nvPr>
        </p:nvPicPr>
        <p:blipFill>
          <a:blip r:embed="rId2" cstate="print"/>
          <a:srcRect/>
          <a:stretch>
            <a:fillRect/>
          </a:stretch>
        </p:blipFill>
        <p:spPr bwMode="auto">
          <a:xfrm>
            <a:off x="0" y="1124744"/>
            <a:ext cx="5100083" cy="3429806"/>
          </a:xfrm>
          <a:prstGeom prst="rect">
            <a:avLst/>
          </a:prstGeom>
          <a:noFill/>
          <a:ln w="9525">
            <a:noFill/>
            <a:miter lim="800000"/>
            <a:headEnd/>
            <a:tailEnd/>
          </a:ln>
        </p:spPr>
      </p:pic>
      <p:pic>
        <p:nvPicPr>
          <p:cNvPr id="5" name="Picture 5" descr="W020080410501199722456"/>
          <p:cNvPicPr>
            <a:picLocks noChangeAspect="1" noChangeArrowheads="1"/>
          </p:cNvPicPr>
          <p:nvPr/>
        </p:nvPicPr>
        <p:blipFill>
          <a:blip r:embed="rId3" cstate="print"/>
          <a:srcRect/>
          <a:stretch>
            <a:fillRect/>
          </a:stretch>
        </p:blipFill>
        <p:spPr bwMode="auto">
          <a:xfrm>
            <a:off x="4788024" y="3591018"/>
            <a:ext cx="4355976" cy="3266982"/>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edge">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amond(in)">
                                      <p:cBhvr>
                                        <p:cTn id="12"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28596" y="285728"/>
            <a:ext cx="8229600" cy="4525963"/>
          </a:xfrm>
        </p:spPr>
        <p:txBody>
          <a:bodyPr>
            <a:normAutofit/>
          </a:bodyPr>
          <a:lstStyle/>
          <a:p>
            <a:r>
              <a:rPr lang="zh-CN" altLang="zh-CN" sz="2000" b="1" dirty="0"/>
              <a:t>京杭大运河</a:t>
            </a:r>
            <a:endParaRPr lang="en-US" altLang="zh-CN" sz="2000" b="1" dirty="0"/>
          </a:p>
          <a:p>
            <a:r>
              <a:rPr lang="zh-CN" altLang="zh-CN" sz="2000" b="1" dirty="0"/>
              <a:t>京杭大运河是世界上里程最长、工程最大的古代运河，也是最古老的运河之一，与长城、坎儿井并称为中国古代的三项伟大工程，并且使用至今，是中国古代劳动人民创造的一项伟大工程，是中国文化地位的象征之一。大运河南起余杭（今杭州），北到涿郡（今北京），途经今浙江、江苏、山东、河北四省及天津、北京两市，贯通海河、黄河、淮河、长江、钱塘江五大水系，全长约</a:t>
            </a:r>
            <a:r>
              <a:rPr lang="en-US" altLang="zh-CN" sz="2000" b="1" dirty="0"/>
              <a:t>1797</a:t>
            </a:r>
            <a:r>
              <a:rPr lang="zh-CN" altLang="zh-CN" sz="2000" b="1" dirty="0"/>
              <a:t>公里。运河对中国南北地区之间的经济、文化发展与交流，特别是对沿线地区工农业经济的发展起了巨大作用。</a:t>
            </a:r>
          </a:p>
          <a:p>
            <a:r>
              <a:rPr lang="zh-CN" altLang="zh-CN" sz="2000" b="1" dirty="0"/>
              <a:t>春秋吴国为伐齐国而开凿，隋朝大幅度扩修并贯通至都城洛阳且连涿郡，元朝翻修时弃洛阳而取直至北京。开凿到现在已有</a:t>
            </a:r>
            <a:r>
              <a:rPr lang="en-US" altLang="zh-CN" sz="2000" b="1" dirty="0"/>
              <a:t>2500</a:t>
            </a:r>
            <a:r>
              <a:rPr lang="zh-CN" altLang="zh-CN" sz="2000" b="1" dirty="0"/>
              <a:t>多年的历史。</a:t>
            </a:r>
            <a:r>
              <a:rPr lang="en-US" altLang="zh-CN" sz="2000" b="1" dirty="0"/>
              <a:t>2002</a:t>
            </a:r>
            <a:r>
              <a:rPr lang="zh-CN" altLang="zh-CN" sz="2000" b="1" dirty="0"/>
              <a:t>年，大运河被纳入了</a:t>
            </a:r>
            <a:r>
              <a:rPr lang="en-US" altLang="zh-CN" sz="2000" b="1" dirty="0"/>
              <a:t>“</a:t>
            </a:r>
            <a:r>
              <a:rPr lang="zh-CN" altLang="zh-CN" sz="2000" b="1" dirty="0"/>
              <a:t>南水北调</a:t>
            </a:r>
            <a:r>
              <a:rPr lang="en-US" altLang="zh-CN" sz="2000" b="1" dirty="0"/>
              <a:t>”</a:t>
            </a:r>
            <a:r>
              <a:rPr lang="zh-CN" altLang="zh-CN" sz="2000" b="1" dirty="0"/>
              <a:t>东线工程。</a:t>
            </a:r>
            <a:r>
              <a:rPr lang="en-US" altLang="zh-CN" sz="2000" b="1" dirty="0"/>
              <a:t>2014</a:t>
            </a:r>
            <a:r>
              <a:rPr lang="zh-CN" altLang="zh-CN" sz="2000" b="1" dirty="0"/>
              <a:t>年</a:t>
            </a:r>
            <a:r>
              <a:rPr lang="en-US" altLang="zh-CN" sz="2000" b="1" dirty="0"/>
              <a:t>6</a:t>
            </a:r>
            <a:r>
              <a:rPr lang="zh-CN" altLang="zh-CN" sz="2000" b="1" dirty="0"/>
              <a:t>月</a:t>
            </a:r>
            <a:r>
              <a:rPr lang="en-US" altLang="zh-CN" sz="2000" b="1" dirty="0"/>
              <a:t>22</a:t>
            </a:r>
            <a:r>
              <a:rPr lang="zh-CN" altLang="zh-CN" sz="2000" b="1" dirty="0"/>
              <a:t>日，第</a:t>
            </a:r>
            <a:r>
              <a:rPr lang="en-US" altLang="zh-CN" sz="2000" b="1" dirty="0"/>
              <a:t>38</a:t>
            </a:r>
            <a:r>
              <a:rPr lang="zh-CN" altLang="zh-CN" sz="2000" b="1" dirty="0"/>
              <a:t>届世界遗产大会宣布，中国大运河项目成功入选世界文化遗产名录，成为中国第</a:t>
            </a:r>
            <a:r>
              <a:rPr lang="en-US" altLang="zh-CN" sz="2000" b="1" dirty="0"/>
              <a:t>46</a:t>
            </a:r>
            <a:r>
              <a:rPr lang="zh-CN" altLang="zh-CN" sz="2000" b="1" dirty="0"/>
              <a:t>个世界遗产项目。</a:t>
            </a:r>
          </a:p>
        </p:txBody>
      </p:sp>
      <p:pic>
        <p:nvPicPr>
          <p:cNvPr id="4" name="图片 3" descr="timg.jpg"/>
          <p:cNvPicPr>
            <a:picLocks noChangeAspect="1"/>
          </p:cNvPicPr>
          <p:nvPr/>
        </p:nvPicPr>
        <p:blipFill>
          <a:blip r:embed="rId2" cstate="print"/>
          <a:stretch>
            <a:fillRect/>
          </a:stretch>
        </p:blipFill>
        <p:spPr>
          <a:xfrm>
            <a:off x="1475656" y="4715426"/>
            <a:ext cx="3203848" cy="2142574"/>
          </a:xfrm>
          <a:prstGeom prst="rect">
            <a:avLst/>
          </a:prstGeom>
        </p:spPr>
      </p:pic>
      <p:pic>
        <p:nvPicPr>
          <p:cNvPr id="5" name="图片 4" descr="untitled.png"/>
          <p:cNvPicPr>
            <a:picLocks noChangeAspect="1"/>
          </p:cNvPicPr>
          <p:nvPr/>
        </p:nvPicPr>
        <p:blipFill>
          <a:blip r:embed="rId3" cstate="print"/>
          <a:stretch>
            <a:fillRect/>
          </a:stretch>
        </p:blipFill>
        <p:spPr>
          <a:xfrm>
            <a:off x="4644008" y="4712322"/>
            <a:ext cx="3312368" cy="2145678"/>
          </a:xfrm>
          <a:prstGeom prst="rect">
            <a:avLst/>
          </a:prstGeom>
        </p:spPr>
      </p:pic>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amond(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amond(in)">
                                      <p:cBhvr>
                                        <p:cTn id="17" dur="2000"/>
                                        <p:tgtEl>
                                          <p:spTgt spid="3">
                                            <p:txEl>
                                              <p:pRg st="2" end="2"/>
                                            </p:txEl>
                                          </p:spTgt>
                                        </p:tgtEl>
                                      </p:cBhvr>
                                    </p:animEffect>
                                  </p:childTnLst>
                                </p:cTn>
                              </p:par>
                              <p:par>
                                <p:cTn id="18" presetID="8" presetClass="entr" presetSubtype="16" fill="hold" nodeType="with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diamond(in)">
                                      <p:cBhvr>
                                        <p:cTn id="20" dur="2000"/>
                                        <p:tgtEl>
                                          <p:spTgt spid="4"/>
                                        </p:tgtEl>
                                      </p:cBhvr>
                                    </p:animEffect>
                                  </p:childTnLst>
                                </p:cTn>
                              </p:par>
                              <p:par>
                                <p:cTn id="21" presetID="8" presetClass="entr" presetSubtype="16" fill="hold" nodeType="with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diamond(in)">
                                      <p:cBhvr>
                                        <p:cTn id="23"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a:ea typeface="华文新魏" panose="02010800040101010101" pitchFamily="2" charset="-122"/>
              </a:rPr>
              <a:t>工程的本质</a:t>
            </a:r>
            <a:endParaRPr lang="zh-CN" altLang="en-US" sz="3600" dirty="0"/>
          </a:p>
        </p:txBody>
      </p:sp>
      <p:sp>
        <p:nvSpPr>
          <p:cNvPr id="3" name="内容占位符 2"/>
          <p:cNvSpPr>
            <a:spLocks noGrp="1"/>
          </p:cNvSpPr>
          <p:nvPr>
            <p:ph idx="1"/>
          </p:nvPr>
        </p:nvSpPr>
        <p:spPr/>
        <p:txBody>
          <a:bodyPr>
            <a:normAutofit/>
          </a:bodyPr>
          <a:lstStyle/>
          <a:p>
            <a:r>
              <a:rPr lang="zh-CN" altLang="en-US" sz="2800" b="1" dirty="0"/>
              <a:t>工程所追求的目标是社会实现</a:t>
            </a:r>
            <a:endParaRPr lang="en-US" altLang="zh-CN" sz="2800" b="1" dirty="0"/>
          </a:p>
          <a:p>
            <a:r>
              <a:rPr lang="zh-CN" altLang="en-US" sz="2800" b="1" dirty="0">
                <a:solidFill>
                  <a:schemeClr val="accent6">
                    <a:lumMod val="50000"/>
                  </a:schemeClr>
                </a:solidFill>
              </a:rPr>
              <a:t>追求居住目的：生活、发电、防灾、通过大江大河、交通方便等</a:t>
            </a:r>
            <a:endParaRPr lang="en-US" altLang="zh-CN" sz="2800" b="1" dirty="0">
              <a:solidFill>
                <a:schemeClr val="accent6">
                  <a:lumMod val="50000"/>
                </a:schemeClr>
              </a:solidFill>
            </a:endParaRPr>
          </a:p>
          <a:p>
            <a:r>
              <a:rPr lang="zh-CN" altLang="en-US" sz="2800" b="1" dirty="0"/>
              <a:t>工程是按照一定目标和规则对科学、技术和社会的动态整合</a:t>
            </a:r>
            <a:endParaRPr lang="en-US" altLang="zh-CN" sz="2800" b="1" dirty="0"/>
          </a:p>
          <a:p>
            <a:r>
              <a:rPr lang="zh-CN" altLang="en-US" sz="2800" b="1" dirty="0">
                <a:solidFill>
                  <a:schemeClr val="accent6">
                    <a:lumMod val="50000"/>
                  </a:schemeClr>
                </a:solidFill>
              </a:rPr>
              <a:t>涉及到管理方式、利用何种技术发明、动力等 </a:t>
            </a:r>
          </a:p>
          <a:p>
            <a:r>
              <a:rPr lang="zh-CN" altLang="en-US" sz="2800" b="1" dirty="0"/>
              <a:t>工程活动是一个通过技术集成实现创新的过程 </a:t>
            </a:r>
          </a:p>
        </p:txBody>
      </p:sp>
    </p:spTree>
  </p:cSld>
  <p:clrMapOvr>
    <a:masterClrMapping/>
  </p:clrMapOvr>
  <p:transition>
    <p:strips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2000"/>
                                        <p:tgtEl>
                                          <p:spTgt spid="2"/>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diamond(in)">
                                      <p:cBhvr>
                                        <p:cTn id="10" dur="2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8" presetClass="entr" presetSubtype="16"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diamond(in)">
                                      <p:cBhvr>
                                        <p:cTn id="15" dur="20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8" presetClass="entr" presetSubtype="16"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diamond(in)">
                                      <p:cBhvr>
                                        <p:cTn id="20" dur="20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8" presetClass="entr" presetSubtype="16"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diamond(in)">
                                      <p:cBhvr>
                                        <p:cTn id="25" dur="20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8" presetClass="entr" presetSubtype="16" fill="hold" grpId="0"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diamond(in)">
                                      <p:cBhvr>
                                        <p:cTn id="30"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zh-CN" altLang="en-US" sz="2400" b="1" dirty="0"/>
              <a:t>工程本身是一个复杂的系统 </a:t>
            </a:r>
          </a:p>
          <a:p>
            <a:r>
              <a:rPr lang="zh-CN" altLang="zh-CN" sz="2400" b="1" dirty="0">
                <a:solidFill>
                  <a:schemeClr val="accent6">
                    <a:lumMod val="50000"/>
                  </a:schemeClr>
                </a:solidFill>
              </a:rPr>
              <a:t>要素多，包括目标、资源、技术、过程、环境等，施工过程中，又包括设计、实验、施工、使用、验收、维护等步骤。</a:t>
            </a:r>
            <a:r>
              <a:rPr lang="en-US" altLang="zh-CN" sz="2400" b="1" dirty="0">
                <a:solidFill>
                  <a:schemeClr val="accent6">
                    <a:lumMod val="50000"/>
                  </a:schemeClr>
                </a:solidFill>
              </a:rPr>
              <a:t>   </a:t>
            </a:r>
          </a:p>
          <a:p>
            <a:r>
              <a:rPr lang="zh-CN" altLang="zh-CN" sz="2400" b="1" dirty="0">
                <a:solidFill>
                  <a:schemeClr val="accent6">
                    <a:lumMod val="50000"/>
                  </a:schemeClr>
                </a:solidFill>
              </a:rPr>
              <a:t>还需要考虑社会环境、自然环境和其他工程的配套。比如，北京的新建筑与城市古建筑有无违和感。北大新建大楼也有要求，与原有风格一致。丽江古城恐怕不能建过高的建筑 。河流上游和人口密集的地方不宜建化工厂之类可能污染严重的工厂。高楼</a:t>
            </a:r>
            <a:r>
              <a:rPr lang="zh-CN" altLang="en-US" sz="2400" b="1" dirty="0">
                <a:solidFill>
                  <a:schemeClr val="accent6">
                    <a:lumMod val="50000"/>
                  </a:schemeClr>
                </a:solidFill>
              </a:rPr>
              <a:t>要</a:t>
            </a:r>
            <a:r>
              <a:rPr lang="zh-CN" altLang="zh-CN" sz="2400" b="1" dirty="0">
                <a:solidFill>
                  <a:schemeClr val="accent6">
                    <a:lumMod val="50000"/>
                  </a:schemeClr>
                </a:solidFill>
              </a:rPr>
              <a:t>考虑抗震 ，一般建筑也要考虑抗震。</a:t>
            </a:r>
            <a:endParaRPr lang="zh-CN" altLang="en-US" sz="2400" b="1" dirty="0"/>
          </a:p>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amond(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amond(in)">
                                      <p:cBhvr>
                                        <p:cTn id="17"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normAutofit fontScale="85000" lnSpcReduction="10000"/>
          </a:bodyPr>
          <a:lstStyle/>
          <a:p>
            <a:pPr algn="just">
              <a:buNone/>
            </a:pPr>
            <a:r>
              <a:rPr lang="zh-CN" altLang="en-US" b="1" dirty="0">
                <a:solidFill>
                  <a:srgbClr val="FF3300"/>
                </a:solidFill>
              </a:rPr>
              <a:t>    曼哈顿计划：</a:t>
            </a:r>
            <a:r>
              <a:rPr lang="zh-CN" altLang="en-US" b="1" dirty="0">
                <a:latin typeface="Times New Roman" panose="02020603050405020304" pitchFamily="18" charset="0"/>
              </a:rPr>
              <a:t>美国政府于</a:t>
            </a:r>
            <a:r>
              <a:rPr lang="en-US" altLang="zh-CN" b="1" dirty="0">
                <a:latin typeface="Times New Roman" panose="02020603050405020304" pitchFamily="18" charset="0"/>
              </a:rPr>
              <a:t>1941</a:t>
            </a:r>
            <a:r>
              <a:rPr lang="zh-CN" altLang="en-US" b="1" dirty="0">
                <a:latin typeface="Times New Roman" panose="02020603050405020304" pitchFamily="18" charset="0"/>
              </a:rPr>
              <a:t>年</a:t>
            </a:r>
            <a:r>
              <a:rPr lang="en-US" altLang="zh-CN" b="1" dirty="0">
                <a:latin typeface="Times New Roman" panose="02020603050405020304" pitchFamily="18" charset="0"/>
              </a:rPr>
              <a:t>12</a:t>
            </a:r>
            <a:r>
              <a:rPr lang="zh-CN" altLang="en-US" b="1" dirty="0">
                <a:latin typeface="Times New Roman" panose="02020603050405020304" pitchFamily="18" charset="0"/>
              </a:rPr>
              <a:t>月</a:t>
            </a:r>
            <a:r>
              <a:rPr lang="en-US" altLang="zh-CN" b="1" dirty="0">
                <a:latin typeface="Times New Roman" panose="02020603050405020304" pitchFamily="18" charset="0"/>
              </a:rPr>
              <a:t>6</a:t>
            </a:r>
            <a:r>
              <a:rPr lang="zh-CN" altLang="en-US" b="1" dirty="0">
                <a:latin typeface="Times New Roman" panose="02020603050405020304" pitchFamily="18" charset="0"/>
              </a:rPr>
              <a:t>日拨款实施制造原子武器的计划。</a:t>
            </a:r>
            <a:r>
              <a:rPr lang="en-US" altLang="zh-CN" b="1" dirty="0">
                <a:latin typeface="Times New Roman" panose="02020603050405020304" pitchFamily="18" charset="0"/>
              </a:rPr>
              <a:t>1941</a:t>
            </a:r>
            <a:r>
              <a:rPr lang="zh-CN" altLang="en-US" b="1" dirty="0">
                <a:latin typeface="Times New Roman" panose="02020603050405020304" pitchFamily="18" charset="0"/>
              </a:rPr>
              <a:t>年</a:t>
            </a:r>
            <a:r>
              <a:rPr lang="en-US" altLang="zh-CN" b="1" dirty="0">
                <a:latin typeface="Times New Roman" panose="02020603050405020304" pitchFamily="18" charset="0"/>
              </a:rPr>
              <a:t>12</a:t>
            </a:r>
            <a:r>
              <a:rPr lang="zh-CN" altLang="en-US" b="1" dirty="0">
                <a:latin typeface="Times New Roman" panose="02020603050405020304" pitchFamily="18" charset="0"/>
              </a:rPr>
              <a:t>月费米领导建设美国第一个原子能反应堆；</a:t>
            </a:r>
            <a:r>
              <a:rPr lang="en-US" altLang="zh-CN" b="1" dirty="0">
                <a:latin typeface="Times New Roman" panose="02020603050405020304" pitchFamily="18" charset="0"/>
              </a:rPr>
              <a:t>1943</a:t>
            </a:r>
            <a:r>
              <a:rPr lang="zh-CN" altLang="en-US" b="1" dirty="0">
                <a:latin typeface="Times New Roman" panose="02020603050405020304" pitchFamily="18" charset="0"/>
              </a:rPr>
              <a:t>年工程进入原子弹具体设计阶段，</a:t>
            </a:r>
            <a:r>
              <a:rPr lang="en-US" altLang="zh-CN" b="1" dirty="0">
                <a:latin typeface="Times New Roman" panose="02020603050405020304" pitchFamily="18" charset="0"/>
              </a:rPr>
              <a:t>1945</a:t>
            </a:r>
            <a:r>
              <a:rPr lang="zh-CN" altLang="en-US" b="1" dirty="0">
                <a:latin typeface="Times New Roman" panose="02020603050405020304" pitchFamily="18" charset="0"/>
              </a:rPr>
              <a:t>年</a:t>
            </a:r>
            <a:r>
              <a:rPr lang="en-US" altLang="zh-CN" b="1" dirty="0">
                <a:latin typeface="Times New Roman" panose="02020603050405020304" pitchFamily="18" charset="0"/>
              </a:rPr>
              <a:t>7</a:t>
            </a:r>
            <a:r>
              <a:rPr lang="zh-CN" altLang="en-US" b="1" dirty="0">
                <a:latin typeface="Times New Roman" panose="02020603050405020304" pitchFamily="18" charset="0"/>
              </a:rPr>
              <a:t>月</a:t>
            </a:r>
            <a:r>
              <a:rPr lang="en-US" altLang="zh-CN" b="1" dirty="0">
                <a:latin typeface="Times New Roman" panose="02020603050405020304" pitchFamily="18" charset="0"/>
              </a:rPr>
              <a:t>16</a:t>
            </a:r>
            <a:r>
              <a:rPr lang="zh-CN" altLang="en-US" b="1" dirty="0">
                <a:latin typeface="Times New Roman" panose="02020603050405020304" pitchFamily="18" charset="0"/>
              </a:rPr>
              <a:t>日第一颗铀原子弹试爆成功。动员</a:t>
            </a:r>
            <a:r>
              <a:rPr lang="en-US" altLang="zh-CN" b="1" dirty="0">
                <a:latin typeface="Times New Roman" panose="02020603050405020304" pitchFamily="18" charset="0"/>
              </a:rPr>
              <a:t>50</a:t>
            </a:r>
            <a:r>
              <a:rPr lang="zh-CN" altLang="en-US" b="1" dirty="0">
                <a:latin typeface="Times New Roman" panose="02020603050405020304" pitchFamily="18" charset="0"/>
              </a:rPr>
              <a:t>多万人，其中科研人员</a:t>
            </a:r>
            <a:r>
              <a:rPr lang="en-US" altLang="zh-CN" b="1" dirty="0">
                <a:latin typeface="Times New Roman" panose="02020603050405020304" pitchFamily="18" charset="0"/>
              </a:rPr>
              <a:t>15</a:t>
            </a:r>
            <a:r>
              <a:rPr lang="zh-CN" altLang="en-US" b="1" dirty="0">
                <a:latin typeface="Times New Roman" panose="02020603050405020304" pitchFamily="18" charset="0"/>
              </a:rPr>
              <a:t>万；耗资</a:t>
            </a:r>
            <a:r>
              <a:rPr lang="en-US" altLang="zh-CN" b="1" dirty="0">
                <a:latin typeface="Times New Roman" panose="02020603050405020304" pitchFamily="18" charset="0"/>
              </a:rPr>
              <a:t>22</a:t>
            </a:r>
            <a:r>
              <a:rPr lang="zh-CN" altLang="en-US" b="1" dirty="0">
                <a:latin typeface="Times New Roman" panose="02020603050405020304" pitchFamily="18" charset="0"/>
              </a:rPr>
              <a:t>亿美元；占用全国近</a:t>
            </a:r>
            <a:r>
              <a:rPr lang="en-US" altLang="zh-CN" b="1" dirty="0">
                <a:latin typeface="Times New Roman" panose="02020603050405020304" pitchFamily="18" charset="0"/>
              </a:rPr>
              <a:t>3</a:t>
            </a:r>
            <a:r>
              <a:rPr lang="zh-CN" altLang="en-US" b="1" dirty="0">
                <a:latin typeface="Times New Roman" panose="02020603050405020304" pitchFamily="18" charset="0"/>
              </a:rPr>
              <a:t>分之</a:t>
            </a:r>
            <a:r>
              <a:rPr lang="en-US" altLang="zh-CN" b="1" dirty="0">
                <a:latin typeface="Times New Roman" panose="02020603050405020304" pitchFamily="18" charset="0"/>
              </a:rPr>
              <a:t>1</a:t>
            </a:r>
            <a:r>
              <a:rPr lang="zh-CN" altLang="en-US" b="1" dirty="0">
                <a:latin typeface="Times New Roman" panose="02020603050405020304" pitchFamily="18" charset="0"/>
              </a:rPr>
              <a:t>的电力。</a:t>
            </a:r>
          </a:p>
          <a:p>
            <a:pPr algn="just">
              <a:buNone/>
            </a:pPr>
            <a:r>
              <a:rPr lang="zh-CN" altLang="en-US" b="1" dirty="0">
                <a:solidFill>
                  <a:srgbClr val="FF3300"/>
                </a:solidFill>
              </a:rPr>
              <a:t>     阿波罗计划</a:t>
            </a:r>
            <a:r>
              <a:rPr lang="zh-CN" altLang="en-US" b="1" dirty="0"/>
              <a:t>：</a:t>
            </a:r>
            <a:r>
              <a:rPr lang="en-US" altLang="zh-CN" b="1" dirty="0">
                <a:latin typeface="Times New Roman" panose="02020603050405020304" pitchFamily="18" charset="0"/>
              </a:rPr>
              <a:t>1961</a:t>
            </a:r>
            <a:r>
              <a:rPr lang="zh-CN" altLang="en-US" b="1" dirty="0">
                <a:latin typeface="Times New Roman" panose="02020603050405020304" pitchFamily="18" charset="0"/>
              </a:rPr>
              <a:t>年，美国总统肯尼迪宣布：美国要在</a:t>
            </a:r>
            <a:r>
              <a:rPr lang="en-US" altLang="zh-CN" b="1" dirty="0">
                <a:latin typeface="Times New Roman" panose="02020603050405020304" pitchFamily="18" charset="0"/>
              </a:rPr>
              <a:t>10</a:t>
            </a:r>
            <a:r>
              <a:rPr lang="zh-CN" altLang="en-US" b="1" dirty="0">
                <a:latin typeface="Times New Roman" panose="02020603050405020304" pitchFamily="18" charset="0"/>
              </a:rPr>
              <a:t>年内，把一个美国人送上月球，将使他重新回到地面。</a:t>
            </a:r>
            <a:r>
              <a:rPr lang="en-US" altLang="zh-CN" b="1" dirty="0">
                <a:latin typeface="Times New Roman" panose="02020603050405020304" pitchFamily="18" charset="0"/>
              </a:rPr>
              <a:t>1969.7.19</a:t>
            </a:r>
            <a:r>
              <a:rPr lang="zh-CN" altLang="en-US" b="1" dirty="0">
                <a:latin typeface="Times New Roman" panose="02020603050405020304" pitchFamily="18" charset="0"/>
              </a:rPr>
              <a:t>阿波罗</a:t>
            </a:r>
            <a:r>
              <a:rPr lang="en-US" altLang="zh-CN" b="1" dirty="0">
                <a:latin typeface="Times New Roman" panose="02020603050405020304" pitchFamily="18" charset="0"/>
              </a:rPr>
              <a:t>11</a:t>
            </a:r>
            <a:r>
              <a:rPr lang="zh-CN" altLang="en-US" b="1" dirty="0">
                <a:latin typeface="Times New Roman" panose="02020603050405020304" pitchFamily="18" charset="0"/>
              </a:rPr>
              <a:t>号的登月仓在月面上安全降落。动员</a:t>
            </a:r>
            <a:r>
              <a:rPr lang="en-US" altLang="zh-CN" b="1" dirty="0">
                <a:latin typeface="Times New Roman" panose="02020603050405020304" pitchFamily="18" charset="0"/>
              </a:rPr>
              <a:t>40</a:t>
            </a:r>
            <a:r>
              <a:rPr lang="zh-CN" altLang="en-US" b="1" dirty="0">
                <a:latin typeface="Times New Roman" panose="02020603050405020304" pitchFamily="18" charset="0"/>
              </a:rPr>
              <a:t>多万人、约</a:t>
            </a:r>
            <a:r>
              <a:rPr lang="en-US" altLang="zh-CN" b="1" dirty="0">
                <a:latin typeface="Times New Roman" panose="02020603050405020304" pitchFamily="18" charset="0"/>
              </a:rPr>
              <a:t>2</a:t>
            </a:r>
            <a:r>
              <a:rPr lang="zh-CN" altLang="en-US" b="1" dirty="0">
                <a:latin typeface="Times New Roman" panose="02020603050405020304" pitchFamily="18" charset="0"/>
              </a:rPr>
              <a:t>万家公司和研究机构、</a:t>
            </a:r>
            <a:r>
              <a:rPr lang="en-US" altLang="zh-CN" b="1" dirty="0">
                <a:latin typeface="Times New Roman" panose="02020603050405020304" pitchFamily="18" charset="0"/>
              </a:rPr>
              <a:t>120</a:t>
            </a:r>
            <a:r>
              <a:rPr lang="zh-CN" altLang="en-US" b="1" dirty="0">
                <a:latin typeface="Times New Roman" panose="02020603050405020304" pitchFamily="18" charset="0"/>
              </a:rPr>
              <a:t>多所大学；耗资</a:t>
            </a:r>
            <a:r>
              <a:rPr lang="en-US" altLang="zh-CN" b="1" dirty="0">
                <a:latin typeface="Times New Roman" panose="02020603050405020304" pitchFamily="18" charset="0"/>
              </a:rPr>
              <a:t>250</a:t>
            </a:r>
            <a:r>
              <a:rPr lang="zh-CN" altLang="en-US" b="1" dirty="0">
                <a:latin typeface="Times New Roman" panose="02020603050405020304" pitchFamily="18" charset="0"/>
              </a:rPr>
              <a:t>多亿美元。</a:t>
            </a:r>
          </a:p>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amond(in)">
                                      <p:cBhvr>
                                        <p:cTn id="12"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br>
              <a:rPr lang="en-US" altLang="zh-CN" sz="3600" b="1" dirty="0"/>
            </a:br>
            <a:r>
              <a:rPr lang="zh-CN" altLang="en-US" sz="3600" b="1" dirty="0"/>
              <a:t>工程活动的特征</a:t>
            </a:r>
            <a:br>
              <a:rPr lang="zh-CN" altLang="en-US" sz="3600" b="1" dirty="0"/>
            </a:br>
            <a:endParaRPr lang="zh-CN" altLang="en-US" sz="3600" b="1" dirty="0"/>
          </a:p>
        </p:txBody>
      </p:sp>
      <p:sp>
        <p:nvSpPr>
          <p:cNvPr id="3" name="内容占位符 2"/>
          <p:cNvSpPr>
            <a:spLocks noGrp="1"/>
          </p:cNvSpPr>
          <p:nvPr>
            <p:ph idx="1"/>
          </p:nvPr>
        </p:nvSpPr>
        <p:spPr/>
        <p:txBody>
          <a:bodyPr>
            <a:normAutofit/>
          </a:bodyPr>
          <a:lstStyle/>
          <a:p>
            <a:r>
              <a:rPr lang="en-US" altLang="zh-CN" sz="2400" b="1" dirty="0"/>
              <a:t>1</a:t>
            </a:r>
            <a:r>
              <a:rPr lang="zh-CN" altLang="en-US" sz="2400" b="1" dirty="0"/>
              <a:t>、工程决策的综合性与创新性</a:t>
            </a:r>
          </a:p>
          <a:p>
            <a:r>
              <a:rPr lang="zh-CN" altLang="en-US" sz="2400" b="1" dirty="0"/>
              <a:t>    工程决策的过程就是不同的利益相关者之间所进行的合作、搏弈、协商、竞争的过程。</a:t>
            </a:r>
          </a:p>
          <a:p>
            <a:r>
              <a:rPr lang="zh-CN" altLang="en-US" sz="2400" b="1" dirty="0"/>
              <a:t>    决策者必须对各种因素及其冲突与矛盾进行分别体认、综合考量，才能做到整体协调、整体筹划、综合决策。正如</a:t>
            </a:r>
            <a:r>
              <a:rPr lang="en-US" altLang="zh-CN" sz="2400" b="1" dirty="0"/>
              <a:t>A·</a:t>
            </a:r>
            <a:r>
              <a:rPr lang="zh-CN" altLang="en-US" sz="2400" b="1" dirty="0"/>
              <a:t>西蒙所说：“工程与‘综合’有关，科学与分析有关。</a:t>
            </a:r>
            <a:r>
              <a:rPr lang="en-US" altLang="zh-CN" sz="2400" b="1" dirty="0"/>
              <a:t>……</a:t>
            </a:r>
            <a:r>
              <a:rPr lang="zh-CN" altLang="en-US" sz="2400" b="1" dirty="0"/>
              <a:t>综合即是创造。”</a:t>
            </a:r>
            <a:endParaRPr lang="en-US" altLang="zh-CN" sz="2400" b="1" dirty="0"/>
          </a:p>
          <a:p>
            <a:r>
              <a:rPr lang="zh-CN" altLang="en-US" sz="1800" b="1" dirty="0"/>
              <a:t>芝加哥保险大楼（</a:t>
            </a:r>
            <a:r>
              <a:rPr lang="en-US" altLang="zh-CN" sz="1800" b="1" dirty="0"/>
              <a:t>1884</a:t>
            </a:r>
            <a:r>
              <a:rPr lang="zh-CN" altLang="en-US" sz="1800" b="1" dirty="0"/>
              <a:t>年</a:t>
            </a:r>
            <a:r>
              <a:rPr lang="en-US" altLang="zh-CN" sz="1800" b="1" dirty="0"/>
              <a:t>-1885</a:t>
            </a:r>
            <a:r>
              <a:rPr lang="zh-CN" altLang="en-US" sz="1800" b="1" dirty="0"/>
              <a:t>年建成），世界上第一座由钢筋混凝土结构支撑的建筑。</a:t>
            </a:r>
            <a:endParaRPr lang="en-US" altLang="zh-CN" sz="1800" b="1" dirty="0"/>
          </a:p>
        </p:txBody>
      </p:sp>
      <p:pic>
        <p:nvPicPr>
          <p:cNvPr id="4" name="图片 3" descr="src=http___5b0988e595225_cdn_sohucs_com_images_20180620_03732c698fa149bc85788a7e6c1cd494_png&amp;refer=http___5b0988e595225_cdn_sohucs.jpg"/>
          <p:cNvPicPr>
            <a:picLocks noChangeAspect="1"/>
          </p:cNvPicPr>
          <p:nvPr/>
        </p:nvPicPr>
        <p:blipFill>
          <a:blip r:embed="rId2" cstate="print"/>
          <a:stretch>
            <a:fillRect/>
          </a:stretch>
        </p:blipFill>
        <p:spPr>
          <a:xfrm>
            <a:off x="1187624" y="4896729"/>
            <a:ext cx="2873491" cy="1961271"/>
          </a:xfrm>
          <a:prstGeom prst="rect">
            <a:avLst/>
          </a:prstGeom>
        </p:spPr>
      </p:pic>
      <p:pic>
        <p:nvPicPr>
          <p:cNvPr id="5" name="图片 4" descr="src=http___m_tuniucdn_com_fb2_t1_G5_M00_08_B4_Cii-s1sCbwiIKCn7AAWmZLJdeiAAAHIcQM-SUAABaZ8078_w800_h0_c0_t0_png&amp;refer=http___m_tuniucdn.jpg"/>
          <p:cNvPicPr>
            <a:picLocks noChangeAspect="1"/>
          </p:cNvPicPr>
          <p:nvPr/>
        </p:nvPicPr>
        <p:blipFill>
          <a:blip r:embed="rId3" cstate="print"/>
          <a:stretch>
            <a:fillRect/>
          </a:stretch>
        </p:blipFill>
        <p:spPr>
          <a:xfrm>
            <a:off x="6444208" y="4820894"/>
            <a:ext cx="1728192" cy="2037106"/>
          </a:xfrm>
          <a:prstGeom prst="rect">
            <a:avLst/>
          </a:prstGeom>
        </p:spPr>
      </p:pic>
      <p:pic>
        <p:nvPicPr>
          <p:cNvPr id="6" name="图片 5" descr="src=http___hbimg_b0_upaiyun_com_6abdcc8135305042cba14a2f6fcbb9f3827262773120d-NS9Cs1_fw658&amp;refer=http___hbimg_b0_upaiyun.jpg"/>
          <p:cNvPicPr>
            <a:picLocks noChangeAspect="1"/>
          </p:cNvPicPr>
          <p:nvPr/>
        </p:nvPicPr>
        <p:blipFill>
          <a:blip r:embed="rId4" cstate="print"/>
          <a:stretch>
            <a:fillRect/>
          </a:stretch>
        </p:blipFill>
        <p:spPr>
          <a:xfrm>
            <a:off x="3994051" y="4869160"/>
            <a:ext cx="2487941" cy="1988840"/>
          </a:xfrm>
          <a:prstGeom prst="rect">
            <a:avLst/>
          </a:prstGeom>
        </p:spPr>
      </p:pic>
    </p:spTree>
  </p:cSld>
  <p:clrMapOvr>
    <a:masterClrMapping/>
  </p:clrMapOvr>
  <p:transition>
    <p:strips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2000"/>
                                        <p:tgtEl>
                                          <p:spTgt spid="2"/>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diamond(in)">
                                      <p:cBhvr>
                                        <p:cTn id="10" dur="2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8" presetClass="entr" presetSubtype="16"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diamond(in)">
                                      <p:cBhvr>
                                        <p:cTn id="15" dur="20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8" presetClass="entr" presetSubtype="16"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diamond(in)">
                                      <p:cBhvr>
                                        <p:cTn id="20" dur="20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8" presetClass="entr" presetSubtype="16"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diamond(in)">
                                      <p:cBhvr>
                                        <p:cTn id="25" dur="20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blinds(horizontal)">
                                      <p:cBhvr>
                                        <p:cTn id="30" dur="500"/>
                                        <p:tgtEl>
                                          <p:spTgt spid="4"/>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blinds(horizontal)">
                                      <p:cBhvr>
                                        <p:cTn id="35" dur="500"/>
                                        <p:tgtEl>
                                          <p:spTgt spid="6"/>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blinds(horizontal)">
                                      <p:cBhvr>
                                        <p:cTn id="4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br>
              <a:rPr lang="en-US" altLang="zh-CN" sz="3600" b="1" dirty="0"/>
            </a:br>
            <a:r>
              <a:rPr lang="en-US" altLang="zh-CN" sz="3600" b="1" dirty="0"/>
              <a:t>2</a:t>
            </a:r>
            <a:r>
              <a:rPr lang="zh-CN" altLang="en-US" sz="3600" b="1" dirty="0"/>
              <a:t>、工程活动的系统性与协调性</a:t>
            </a:r>
            <a:br>
              <a:rPr lang="zh-CN" altLang="en-US" sz="3600" b="1" dirty="0"/>
            </a:br>
            <a:endParaRPr lang="zh-CN" altLang="en-US" sz="3600" b="1" dirty="0"/>
          </a:p>
        </p:txBody>
      </p:sp>
      <p:sp>
        <p:nvSpPr>
          <p:cNvPr id="3" name="内容占位符 2"/>
          <p:cNvSpPr>
            <a:spLocks noGrp="1"/>
          </p:cNvSpPr>
          <p:nvPr>
            <p:ph idx="1"/>
          </p:nvPr>
        </p:nvSpPr>
        <p:spPr/>
        <p:txBody>
          <a:bodyPr>
            <a:noAutofit/>
          </a:bodyPr>
          <a:lstStyle/>
          <a:p>
            <a:r>
              <a:rPr lang="zh-CN" altLang="en-US" sz="2000" b="1" dirty="0">
                <a:solidFill>
                  <a:srgbClr val="C00000"/>
                </a:solidFill>
              </a:rPr>
              <a:t>工程就是将多种相互作用的人、机因素结合在一起，通过对人力、材料、信息和能源的调配与控制，以实现某一理想的目标。</a:t>
            </a:r>
          </a:p>
          <a:p>
            <a:r>
              <a:rPr lang="zh-CN" altLang="en-US" sz="2000" b="1" dirty="0"/>
              <a:t>     除了工程活动内部的系统协调，还必须与其环境中的其它系统相协调，工程的结构和功能要与生态的、社会的、经济的、政治的、文化的等系统的结构与功能相协调。以系统协调的项目管理方式进行工程管理，才能保证工程的成功。由此，我们必须树立工程的系统协调观。</a:t>
            </a:r>
            <a:endParaRPr lang="en-US" altLang="zh-CN" sz="2000" b="1" dirty="0"/>
          </a:p>
          <a:p>
            <a:r>
              <a:rPr lang="zh-CN" altLang="zh-CN" sz="2000" b="1" dirty="0">
                <a:solidFill>
                  <a:schemeClr val="accent6">
                    <a:lumMod val="50000"/>
                  </a:schemeClr>
                </a:solidFill>
              </a:rPr>
              <a:t>三峡工程</a:t>
            </a:r>
            <a:r>
              <a:rPr lang="zh-CN" altLang="en-US" sz="2000" b="1" dirty="0">
                <a:solidFill>
                  <a:schemeClr val="accent6">
                    <a:lumMod val="50000"/>
                  </a:schemeClr>
                </a:solidFill>
              </a:rPr>
              <a:t>涉及到</a:t>
            </a:r>
            <a:r>
              <a:rPr lang="zh-CN" altLang="zh-CN" sz="2000" b="1" dirty="0">
                <a:solidFill>
                  <a:schemeClr val="accent6">
                    <a:lumMod val="50000"/>
                  </a:schemeClr>
                </a:solidFill>
              </a:rPr>
              <a:t>生态</a:t>
            </a:r>
            <a:r>
              <a:rPr lang="zh-CN" altLang="en-US" sz="2000" b="1" dirty="0">
                <a:solidFill>
                  <a:schemeClr val="accent6">
                    <a:lumMod val="50000"/>
                  </a:schemeClr>
                </a:solidFill>
              </a:rPr>
              <a:t>、</a:t>
            </a:r>
            <a:r>
              <a:rPr lang="zh-CN" altLang="zh-CN" sz="2000" b="1" dirty="0">
                <a:solidFill>
                  <a:schemeClr val="accent6">
                    <a:lumMod val="50000"/>
                  </a:schemeClr>
                </a:solidFill>
              </a:rPr>
              <a:t>移民</a:t>
            </a:r>
            <a:r>
              <a:rPr lang="zh-CN" altLang="en-US" sz="2000" b="1" dirty="0">
                <a:solidFill>
                  <a:schemeClr val="accent6">
                    <a:lumMod val="50000"/>
                  </a:schemeClr>
                </a:solidFill>
              </a:rPr>
              <a:t>、</a:t>
            </a:r>
            <a:r>
              <a:rPr lang="zh-CN" altLang="zh-CN" sz="2000" b="1" dirty="0">
                <a:solidFill>
                  <a:schemeClr val="accent6">
                    <a:lumMod val="50000"/>
                  </a:schemeClr>
                </a:solidFill>
              </a:rPr>
              <a:t>发电</a:t>
            </a:r>
            <a:r>
              <a:rPr lang="zh-CN" altLang="en-US" sz="2000" b="1" dirty="0">
                <a:solidFill>
                  <a:schemeClr val="accent6">
                    <a:lumMod val="50000"/>
                  </a:schemeClr>
                </a:solidFill>
              </a:rPr>
              <a:t>、战争等问题</a:t>
            </a:r>
            <a:r>
              <a:rPr lang="zh-CN" altLang="zh-CN" sz="2000" b="1" dirty="0">
                <a:solidFill>
                  <a:schemeClr val="accent6">
                    <a:lumMod val="50000"/>
                  </a:schemeClr>
                </a:solidFill>
              </a:rPr>
              <a:t>。</a:t>
            </a:r>
            <a:endParaRPr lang="en-US" altLang="zh-CN" sz="2000" b="1" dirty="0">
              <a:solidFill>
                <a:schemeClr val="accent6">
                  <a:lumMod val="50000"/>
                </a:schemeClr>
              </a:solidFill>
            </a:endParaRPr>
          </a:p>
          <a:p>
            <a:r>
              <a:rPr lang="zh-CN" altLang="en-US" sz="2000" b="1" dirty="0">
                <a:solidFill>
                  <a:schemeClr val="accent6">
                    <a:lumMod val="50000"/>
                  </a:schemeClr>
                </a:solidFill>
              </a:rPr>
              <a:t>体育西地铁站</a:t>
            </a:r>
            <a:endParaRPr lang="en-US" altLang="zh-CN" sz="2000" b="1" dirty="0">
              <a:solidFill>
                <a:schemeClr val="accent6">
                  <a:lumMod val="50000"/>
                </a:schemeClr>
              </a:solidFill>
            </a:endParaRPr>
          </a:p>
          <a:p>
            <a:r>
              <a:rPr lang="zh-CN" altLang="en-US" sz="2000" b="1" dirty="0">
                <a:solidFill>
                  <a:srgbClr val="C00000"/>
                </a:solidFill>
              </a:rPr>
              <a:t>广州地铁</a:t>
            </a:r>
            <a:r>
              <a:rPr lang="en-US" altLang="zh-CN" sz="2000" b="1" dirty="0">
                <a:solidFill>
                  <a:srgbClr val="C00000"/>
                </a:solidFill>
              </a:rPr>
              <a:t>3</a:t>
            </a:r>
            <a:r>
              <a:rPr lang="zh-CN" altLang="en-US" sz="2000" b="1" dirty="0">
                <a:solidFill>
                  <a:srgbClr val="C00000"/>
                </a:solidFill>
              </a:rPr>
              <a:t>号线</a:t>
            </a:r>
            <a:endParaRPr lang="en-US" altLang="zh-CN" sz="2000" b="1" dirty="0">
              <a:solidFill>
                <a:srgbClr val="C00000"/>
              </a:solidFill>
            </a:endParaRPr>
          </a:p>
          <a:p>
            <a:r>
              <a:rPr lang="zh-CN" altLang="en-US" sz="2000" b="1" dirty="0"/>
              <a:t>全国城轨交通高峰小时最小发车间隔平均为</a:t>
            </a:r>
            <a:r>
              <a:rPr lang="en-US" altLang="zh-CN" sz="2000" b="1" dirty="0"/>
              <a:t>265</a:t>
            </a:r>
            <a:r>
              <a:rPr lang="zh-CN" altLang="en-US" sz="2000" b="1" dirty="0"/>
              <a:t>秒。进入</a:t>
            </a:r>
            <a:r>
              <a:rPr lang="en-US" altLang="zh-CN" sz="2000" b="1" dirty="0"/>
              <a:t>120</a:t>
            </a:r>
            <a:r>
              <a:rPr lang="zh-CN" altLang="en-US" sz="2000" b="1" dirty="0"/>
              <a:t>秒及以内的线路共有</a:t>
            </a:r>
            <a:r>
              <a:rPr lang="en-US" altLang="zh-CN" sz="2000" b="1" dirty="0"/>
              <a:t>10</a:t>
            </a:r>
            <a:r>
              <a:rPr lang="zh-CN" altLang="en-US" sz="2000" b="1" dirty="0"/>
              <a:t>条，其中以上海地铁</a:t>
            </a:r>
            <a:r>
              <a:rPr lang="en-US" altLang="zh-CN" sz="2000" b="1" dirty="0"/>
              <a:t>9</a:t>
            </a:r>
            <a:r>
              <a:rPr lang="zh-CN" altLang="en-US" sz="2000" b="1" dirty="0"/>
              <a:t>号线</a:t>
            </a:r>
            <a:r>
              <a:rPr lang="en-US" altLang="zh-CN" sz="2000" b="1" dirty="0"/>
              <a:t>115</a:t>
            </a:r>
            <a:r>
              <a:rPr lang="zh-CN" altLang="en-US" sz="2000" b="1" dirty="0"/>
              <a:t>秒最短，广州地铁</a:t>
            </a:r>
            <a:r>
              <a:rPr lang="en-US" altLang="zh-CN" sz="2000" b="1" dirty="0"/>
              <a:t>3</a:t>
            </a:r>
            <a:r>
              <a:rPr lang="zh-CN" altLang="en-US" sz="2000" b="1" dirty="0"/>
              <a:t>号线</a:t>
            </a:r>
            <a:r>
              <a:rPr lang="en-US" altLang="zh-CN" sz="2000" b="1" dirty="0"/>
              <a:t>118</a:t>
            </a:r>
            <a:r>
              <a:rPr lang="zh-CN" altLang="en-US" sz="2000" b="1" dirty="0"/>
              <a:t>秒次之，另有北京地铁</a:t>
            </a:r>
            <a:r>
              <a:rPr lang="en-US" altLang="zh-CN" sz="2000" b="1" dirty="0"/>
              <a:t>1</a:t>
            </a:r>
            <a:r>
              <a:rPr lang="zh-CN" altLang="en-US" sz="2000" b="1" dirty="0"/>
              <a:t>、</a:t>
            </a:r>
            <a:r>
              <a:rPr lang="en-US" altLang="zh-CN" sz="2000" b="1" dirty="0"/>
              <a:t>2</a:t>
            </a:r>
            <a:r>
              <a:rPr lang="zh-CN" altLang="en-US" sz="2000" b="1" dirty="0"/>
              <a:t>、</a:t>
            </a:r>
            <a:r>
              <a:rPr lang="en-US" altLang="zh-CN" sz="2000" b="1" dirty="0"/>
              <a:t>4</a:t>
            </a:r>
            <a:r>
              <a:rPr lang="zh-CN" altLang="en-US" sz="2000" b="1" dirty="0"/>
              <a:t>、</a:t>
            </a:r>
            <a:r>
              <a:rPr lang="en-US" altLang="zh-CN" sz="2000" b="1" dirty="0"/>
              <a:t>5</a:t>
            </a:r>
            <a:r>
              <a:rPr lang="zh-CN" altLang="en-US" sz="2000" b="1" dirty="0"/>
              <a:t>、</a:t>
            </a:r>
            <a:r>
              <a:rPr lang="en-US" altLang="zh-CN" sz="2000" b="1" dirty="0"/>
              <a:t>10</a:t>
            </a:r>
            <a:r>
              <a:rPr lang="zh-CN" altLang="en-US" sz="2000" b="1" dirty="0"/>
              <a:t>号线，上海地铁</a:t>
            </a:r>
            <a:r>
              <a:rPr lang="en-US" altLang="zh-CN" sz="2000" b="1" dirty="0"/>
              <a:t>6</a:t>
            </a:r>
            <a:r>
              <a:rPr lang="zh-CN" altLang="en-US" sz="2000" b="1" dirty="0"/>
              <a:t>、</a:t>
            </a:r>
            <a:r>
              <a:rPr lang="en-US" altLang="zh-CN" sz="2000" b="1" dirty="0"/>
              <a:t>11</a:t>
            </a:r>
            <a:r>
              <a:rPr lang="zh-CN" altLang="en-US" sz="2000" b="1" dirty="0"/>
              <a:t>号线，成都地铁</a:t>
            </a:r>
            <a:r>
              <a:rPr lang="en-US" altLang="zh-CN" sz="2000" b="1" dirty="0"/>
              <a:t>1</a:t>
            </a:r>
            <a:r>
              <a:rPr lang="zh-CN" altLang="en-US" sz="2000" b="1" dirty="0"/>
              <a:t>号线共</a:t>
            </a:r>
            <a:r>
              <a:rPr lang="en-US" altLang="zh-CN" sz="2000" b="1" dirty="0"/>
              <a:t>8</a:t>
            </a:r>
            <a:r>
              <a:rPr lang="zh-CN" altLang="en-US" sz="2000" b="1" dirty="0"/>
              <a:t>条线路高峰小时最小发车间隔为</a:t>
            </a:r>
            <a:r>
              <a:rPr lang="en-US" altLang="zh-CN" sz="2000" b="1" dirty="0"/>
              <a:t>120</a:t>
            </a:r>
            <a:r>
              <a:rPr lang="zh-CN" altLang="en-US" sz="2000" b="1" dirty="0"/>
              <a:t>秒。</a:t>
            </a:r>
            <a:endParaRPr lang="en-US" altLang="zh-CN" sz="2000" b="1" dirty="0">
              <a:solidFill>
                <a:schemeClr val="accent6">
                  <a:lumMod val="50000"/>
                </a:schemeClr>
              </a:solidFill>
            </a:endParaRPr>
          </a:p>
          <a:p>
            <a:r>
              <a:rPr lang="zh-CN" altLang="en-US" sz="2000" b="1" dirty="0">
                <a:solidFill>
                  <a:schemeClr val="accent6">
                    <a:lumMod val="50000"/>
                  </a:schemeClr>
                </a:solidFill>
              </a:rPr>
              <a:t>天河北路</a:t>
            </a:r>
            <a:endParaRPr lang="zh-CN" altLang="en-US" sz="2000" dirty="0"/>
          </a:p>
        </p:txBody>
      </p:sp>
    </p:spTree>
  </p:cSld>
  <p:clrMapOvr>
    <a:masterClrMapping/>
  </p:clrMapOvr>
  <p:transition>
    <p:strips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2000"/>
                                        <p:tgtEl>
                                          <p:spTgt spid="2"/>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diamond(in)">
                                      <p:cBhvr>
                                        <p:cTn id="10" dur="2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8" presetClass="entr" presetSubtype="16"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diamond(in)">
                                      <p:cBhvr>
                                        <p:cTn id="15" dur="20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8" presetClass="entr" presetSubtype="16"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diamond(in)">
                                      <p:cBhvr>
                                        <p:cTn id="20" dur="20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8" presetClass="entr" presetSubtype="16"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diamond(in)">
                                      <p:cBhvr>
                                        <p:cTn id="25" dur="20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8" presetClass="entr" presetSubtype="16" fill="hold" grpId="0"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diamond(in)">
                                      <p:cBhvr>
                                        <p:cTn id="30" dur="2000"/>
                                        <p:tgtEl>
                                          <p:spTgt spid="3">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8" presetClass="entr" presetSubtype="16"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diamond(in)">
                                      <p:cBhvr>
                                        <p:cTn id="35" dur="2000"/>
                                        <p:tgtEl>
                                          <p:spTgt spid="3">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8" presetClass="entr" presetSubtype="16" fill="hold" grpId="0" nodeType="clickEffect">
                                  <p:stCondLst>
                                    <p:cond delay="0"/>
                                  </p:stCondLst>
                                  <p:childTnLst>
                                    <p:set>
                                      <p:cBhvr>
                                        <p:cTn id="39" dur="1" fill="hold">
                                          <p:stCondLst>
                                            <p:cond delay="0"/>
                                          </p:stCondLst>
                                        </p:cTn>
                                        <p:tgtEl>
                                          <p:spTgt spid="3">
                                            <p:txEl>
                                              <p:pRg st="6" end="6"/>
                                            </p:txEl>
                                          </p:spTgt>
                                        </p:tgtEl>
                                        <p:attrNameLst>
                                          <p:attrName>style.visibility</p:attrName>
                                        </p:attrNameLst>
                                      </p:cBhvr>
                                      <p:to>
                                        <p:strVal val="visible"/>
                                      </p:to>
                                    </p:set>
                                    <p:animEffect transition="in" filter="diamond(in)">
                                      <p:cBhvr>
                                        <p:cTn id="40"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en-US" altLang="zh-CN" sz="3600" b="1" dirty="0"/>
              <a:t>3</a:t>
            </a:r>
            <a:r>
              <a:rPr lang="zh-CN" altLang="en-US" sz="3600" b="1" dirty="0"/>
              <a:t>、工程知识的集成性与优化性</a:t>
            </a:r>
          </a:p>
        </p:txBody>
      </p:sp>
      <p:sp>
        <p:nvSpPr>
          <p:cNvPr id="3" name="内容占位符 2"/>
          <p:cNvSpPr>
            <a:spLocks noGrp="1"/>
          </p:cNvSpPr>
          <p:nvPr>
            <p:ph idx="1"/>
          </p:nvPr>
        </p:nvSpPr>
        <p:spPr/>
        <p:txBody>
          <a:bodyPr>
            <a:normAutofit/>
          </a:bodyPr>
          <a:lstStyle/>
          <a:p>
            <a:r>
              <a:rPr lang="zh-CN" altLang="en-US" sz="2200" b="1" dirty="0"/>
              <a:t>工程知识仅集成“自然科学”、“技术科学”和“人文社会科学”这三大类知识还不够，还必须集成相关的已有经验，尤为重要的是，必须集成在当下具体工程现实发生中，依赖特殊场域、情境而产生的境域性知识与经验。</a:t>
            </a:r>
          </a:p>
          <a:p>
            <a:r>
              <a:rPr lang="zh-CN" altLang="en-US" sz="2200" b="1" dirty="0"/>
              <a:t>    集成并不是上述四类知识的简单堆砌，而是把它们有机地结合并转化为与当下工程现实境域相符合的，可行、可操作的知识、方法、程序、规则、规范、指南。</a:t>
            </a:r>
          </a:p>
          <a:p>
            <a:r>
              <a:rPr lang="zh-CN" altLang="en-US" sz="2200" b="1" dirty="0"/>
              <a:t>    可以说情境性是工程知识的重要特征，在许多方面、层次往往以意会知识的形态存在。 </a:t>
            </a:r>
          </a:p>
          <a:p>
            <a:endParaRPr lang="zh-CN" altLang="en-US" dirty="0"/>
          </a:p>
        </p:txBody>
      </p:sp>
    </p:spTree>
  </p:cSld>
  <p:clrMapOvr>
    <a:masterClrMapping/>
  </p:clrMapOvr>
  <p:transition>
    <p:strips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2000"/>
                                        <p:tgtEl>
                                          <p:spTgt spid="2"/>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diamond(in)">
                                      <p:cBhvr>
                                        <p:cTn id="10" dur="2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8" presetClass="entr" presetSubtype="16"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diamond(in)">
                                      <p:cBhvr>
                                        <p:cTn id="15" dur="20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8" presetClass="entr" presetSubtype="16"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diamond(in)">
                                      <p:cBhvr>
                                        <p:cTn id="20"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en-US" altLang="zh-CN" sz="3600" b="1" dirty="0"/>
              <a:t>4</a:t>
            </a:r>
            <a:r>
              <a:rPr lang="zh-CN" altLang="en-US" sz="3600" b="1" dirty="0"/>
              <a:t>、工程活动的场域性与情境性</a:t>
            </a:r>
          </a:p>
        </p:txBody>
      </p:sp>
      <p:sp>
        <p:nvSpPr>
          <p:cNvPr id="3" name="内容占位符 2"/>
          <p:cNvSpPr>
            <a:spLocks noGrp="1"/>
          </p:cNvSpPr>
          <p:nvPr>
            <p:ph idx="1"/>
          </p:nvPr>
        </p:nvSpPr>
        <p:spPr/>
        <p:txBody>
          <a:bodyPr>
            <a:normAutofit/>
          </a:bodyPr>
          <a:lstStyle/>
          <a:p>
            <a:r>
              <a:rPr lang="zh-CN" altLang="en-US" sz="2400" b="1" dirty="0"/>
              <a:t>工程行动欲建造的人工物系统总是嵌入在特定的自然环境与社会环境之中的，工程活动必然具有明显的空间场域性。</a:t>
            </a:r>
          </a:p>
          <a:p>
            <a:r>
              <a:rPr lang="zh-CN" altLang="en-US" sz="2400" b="1" dirty="0"/>
              <a:t>   同一类型的工程，会因为实施地域的不同，具有不同的场域性，导致同类工程之间存在较大差别，工程的唯一性、不可重复性正是与此相关。</a:t>
            </a:r>
          </a:p>
          <a:p>
            <a:r>
              <a:rPr lang="zh-CN" altLang="en-US" sz="2400" b="1" dirty="0"/>
              <a:t>   由于情境事件的不可避免的随机发生，最终建造完成的人工物会可能会与预期的工程目标存在较大的偏差，甚至可能导致工程目标不能实现。当然，情境事件也可能有利于工程目标的实现，如果善于抓住时机，审时度势，可以利用它们来服务于工程行动。  </a:t>
            </a:r>
            <a:endParaRPr lang="en-US" altLang="zh-CN" sz="2400" b="1" dirty="0"/>
          </a:p>
          <a:p>
            <a:r>
              <a:rPr lang="zh-CN" altLang="en-US" sz="2400" b="1" dirty="0"/>
              <a:t>水舞台、印象系列 </a:t>
            </a:r>
          </a:p>
          <a:p>
            <a:endParaRPr lang="zh-CN" altLang="en-US" dirty="0"/>
          </a:p>
        </p:txBody>
      </p:sp>
    </p:spTree>
  </p:cSld>
  <p:clrMapOvr>
    <a:masterClrMapping/>
  </p:clrMapOvr>
  <p:transition>
    <p:strips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2000"/>
                                        <p:tgtEl>
                                          <p:spTgt spid="2"/>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diamond(in)">
                                      <p:cBhvr>
                                        <p:cTn id="10" dur="2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8" presetClass="entr" presetSubtype="16"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diamond(in)">
                                      <p:cBhvr>
                                        <p:cTn id="15" dur="20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8" presetClass="entr" presetSubtype="16"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diamond(in)">
                                      <p:cBhvr>
                                        <p:cTn id="20" dur="20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8" presetClass="entr" presetSubtype="16"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diamond(in)">
                                      <p:cBhvr>
                                        <p:cTn id="25"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600" b="1" dirty="0"/>
              <a:t>5.</a:t>
            </a:r>
            <a:r>
              <a:rPr lang="zh-CN" altLang="en-US" sz="3600" b="1" dirty="0"/>
              <a:t>工程活动的不确定性与风险性</a:t>
            </a:r>
          </a:p>
        </p:txBody>
      </p:sp>
      <p:sp>
        <p:nvSpPr>
          <p:cNvPr id="3" name="内容占位符 2"/>
          <p:cNvSpPr>
            <a:spLocks noGrp="1"/>
          </p:cNvSpPr>
          <p:nvPr>
            <p:ph idx="1"/>
          </p:nvPr>
        </p:nvSpPr>
        <p:spPr/>
        <p:txBody>
          <a:bodyPr>
            <a:normAutofit/>
          </a:bodyPr>
          <a:lstStyle/>
          <a:p>
            <a:r>
              <a:rPr lang="en-US" altLang="zh-CN" sz="2200" b="1" dirty="0"/>
              <a:t>(1)</a:t>
            </a:r>
            <a:r>
              <a:rPr lang="zh-CN" altLang="en-US" sz="2200" b="1" dirty="0"/>
              <a:t>工程中的各种要素本身存在不确定性；</a:t>
            </a:r>
          </a:p>
          <a:p>
            <a:r>
              <a:rPr lang="en-US" altLang="zh-CN" sz="2200" b="1" dirty="0"/>
              <a:t>(2)</a:t>
            </a:r>
            <a:r>
              <a:rPr lang="zh-CN" altLang="en-US" sz="2200" b="1" dirty="0"/>
              <a:t>不确定的要素相互作用构成的工程整体往往具有更大的不确定性；</a:t>
            </a:r>
          </a:p>
          <a:p>
            <a:r>
              <a:rPr lang="en-US" altLang="zh-CN" sz="2200" b="1" dirty="0"/>
              <a:t>(3)</a:t>
            </a:r>
            <a:r>
              <a:rPr lang="zh-CN" altLang="en-US" sz="2200" b="1" dirty="0"/>
              <a:t>由于工程主体认识、实践能力的有限性；</a:t>
            </a:r>
          </a:p>
          <a:p>
            <a:r>
              <a:rPr lang="en-US" altLang="zh-CN" sz="2200" b="1" dirty="0"/>
              <a:t>(4)</a:t>
            </a:r>
            <a:r>
              <a:rPr lang="zh-CN" altLang="en-US" sz="2200" b="1" dirty="0"/>
              <a:t>由于工程行动过程的场域性与情境性，不确定的情境事件不可避免地随机发生，造成工程行动的不确定性，也可能带来风险；</a:t>
            </a:r>
            <a:endParaRPr lang="en-US" altLang="zh-CN" sz="2200" b="1" dirty="0"/>
          </a:p>
          <a:p>
            <a:r>
              <a:rPr lang="zh-CN" altLang="en-US" sz="2200" b="1" dirty="0"/>
              <a:t> </a:t>
            </a:r>
            <a:r>
              <a:rPr lang="en-US" altLang="zh-CN" sz="2200" b="1" dirty="0"/>
              <a:t>(5)</a:t>
            </a:r>
            <a:r>
              <a:rPr lang="zh-CN" altLang="en-US" sz="2200" b="1" dirty="0"/>
              <a:t> 已完成的工程在其运行中，也存在不可预见的不确定，可能使整个工程人工物给其嵌入的特定自然环境、社会环境带来灾难性的风险，危及周围人群的生存。 如战争、恐怖袭击、天气等。</a:t>
            </a:r>
          </a:p>
          <a:p>
            <a:endParaRPr lang="zh-CN" altLang="en-US" dirty="0"/>
          </a:p>
        </p:txBody>
      </p:sp>
    </p:spTree>
  </p:cSld>
  <p:clrMapOvr>
    <a:masterClrMapping/>
  </p:clrMapOvr>
  <p:transition>
    <p:strips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2000"/>
                                        <p:tgtEl>
                                          <p:spTgt spid="2"/>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diamond(in)">
                                      <p:cBhvr>
                                        <p:cTn id="10" dur="2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8" presetClass="entr" presetSubtype="16"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diamond(in)">
                                      <p:cBhvr>
                                        <p:cTn id="15" dur="20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8" presetClass="entr" presetSubtype="16"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diamond(in)">
                                      <p:cBhvr>
                                        <p:cTn id="20" dur="20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8" presetClass="entr" presetSubtype="16"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diamond(in)">
                                      <p:cBhvr>
                                        <p:cTn id="25" dur="20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8" presetClass="entr" presetSubtype="16" fill="hold" grpId="0"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diamond(in)">
                                      <p:cBhvr>
                                        <p:cTn id="30"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normAutofit lnSpcReduction="10000"/>
          </a:bodyPr>
          <a:lstStyle/>
          <a:p>
            <a:pPr>
              <a:lnSpc>
                <a:spcPct val="150000"/>
              </a:lnSpc>
              <a:spcBef>
                <a:spcPct val="0"/>
              </a:spcBef>
              <a:buClr>
                <a:srgbClr val="66FF33"/>
              </a:buClr>
            </a:pPr>
            <a:r>
              <a:rPr lang="zh-CN" altLang="en-US" b="1" dirty="0">
                <a:solidFill>
                  <a:schemeClr val="hlink"/>
                </a:solidFill>
                <a:latin typeface="黑体" panose="02010609060101010101" pitchFamily="49" charset="-122"/>
                <a:ea typeface="黑体" panose="02010609060101010101" pitchFamily="49" charset="-122"/>
              </a:rPr>
              <a:t>伦：</a:t>
            </a:r>
            <a:r>
              <a:rPr lang="zh-CN" altLang="en-US" b="1" dirty="0">
                <a:latin typeface="黑体" panose="02010609060101010101" pitchFamily="49" charset="-122"/>
                <a:ea typeface="黑体" panose="02010609060101010101" pitchFamily="49" charset="-122"/>
              </a:rPr>
              <a:t>人与人之间</a:t>
            </a:r>
          </a:p>
          <a:p>
            <a:pPr>
              <a:lnSpc>
                <a:spcPct val="150000"/>
              </a:lnSpc>
              <a:spcBef>
                <a:spcPct val="0"/>
              </a:spcBef>
              <a:buClr>
                <a:srgbClr val="66FF33"/>
              </a:buClr>
            </a:pPr>
            <a:r>
              <a:rPr lang="zh-CN" altLang="en-US" b="1" dirty="0">
                <a:solidFill>
                  <a:schemeClr val="hlink"/>
                </a:solidFill>
                <a:latin typeface="黑体" panose="02010609060101010101" pitchFamily="49" charset="-122"/>
                <a:ea typeface="黑体" panose="02010609060101010101" pitchFamily="49" charset="-122"/>
              </a:rPr>
              <a:t>理：</a:t>
            </a:r>
            <a:r>
              <a:rPr lang="zh-CN" altLang="en-US" b="1" dirty="0">
                <a:latin typeface="黑体" panose="02010609060101010101" pitchFamily="49" charset="-122"/>
                <a:ea typeface="黑体" panose="02010609060101010101" pitchFamily="49" charset="-122"/>
              </a:rPr>
              <a:t>道理、准则</a:t>
            </a:r>
            <a:endParaRPr lang="en-US" altLang="zh-CN" b="1" dirty="0">
              <a:latin typeface="黑体" panose="02010609060101010101" pitchFamily="49" charset="-122"/>
              <a:ea typeface="黑体" panose="02010609060101010101" pitchFamily="49" charset="-122"/>
            </a:endParaRPr>
          </a:p>
          <a:p>
            <a:pPr algn="ctr">
              <a:lnSpc>
                <a:spcPct val="105000"/>
              </a:lnSpc>
              <a:buClr>
                <a:srgbClr val="66FF33"/>
              </a:buClr>
            </a:pPr>
            <a:r>
              <a:rPr lang="zh-CN" altLang="en-US" b="1" dirty="0">
                <a:solidFill>
                  <a:schemeClr val="hlink"/>
                </a:solidFill>
                <a:latin typeface="黑体" panose="02010609060101010101" pitchFamily="49" charset="-122"/>
                <a:ea typeface="黑体" panose="02010609060101010101" pitchFamily="49" charset="-122"/>
              </a:rPr>
              <a:t>研究人与人之间</a:t>
            </a:r>
          </a:p>
          <a:p>
            <a:pPr algn="ctr">
              <a:lnSpc>
                <a:spcPct val="105000"/>
              </a:lnSpc>
              <a:buClr>
                <a:srgbClr val="66FF33"/>
              </a:buClr>
              <a:buNone/>
            </a:pPr>
            <a:r>
              <a:rPr lang="zh-CN" altLang="en-US" b="1" dirty="0">
                <a:solidFill>
                  <a:schemeClr val="hlink"/>
                </a:solidFill>
                <a:latin typeface="黑体" panose="02010609060101010101" pitchFamily="49" charset="-122"/>
                <a:ea typeface="黑体" panose="02010609060101010101" pitchFamily="49" charset="-122"/>
              </a:rPr>
              <a:t>行为准则和规范的学科</a:t>
            </a:r>
            <a:endParaRPr lang="en-US" altLang="zh-CN" b="1" dirty="0">
              <a:solidFill>
                <a:schemeClr val="hlink"/>
              </a:solidFill>
              <a:latin typeface="黑体" panose="02010609060101010101" pitchFamily="49" charset="-122"/>
              <a:ea typeface="黑体" panose="02010609060101010101" pitchFamily="49" charset="-122"/>
            </a:endParaRPr>
          </a:p>
          <a:p>
            <a:pPr>
              <a:buFont typeface="Monotype Sorts"/>
              <a:buNone/>
            </a:pPr>
            <a:r>
              <a:rPr lang="en-US" altLang="zh-CN" b="1" dirty="0">
                <a:solidFill>
                  <a:schemeClr val="hlink"/>
                </a:solidFill>
                <a:latin typeface="黑体" panose="02010609060101010101" pitchFamily="49" charset="-122"/>
                <a:ea typeface="黑体" panose="02010609060101010101" pitchFamily="49" charset="-122"/>
              </a:rPr>
              <a:t>1</a:t>
            </a:r>
            <a:r>
              <a:rPr lang="zh-CN" altLang="en-US" b="1" dirty="0">
                <a:solidFill>
                  <a:schemeClr val="hlink"/>
                </a:solidFill>
                <a:latin typeface="黑体" panose="02010609060101010101" pitchFamily="49" charset="-122"/>
                <a:ea typeface="黑体" panose="02010609060101010101" pitchFamily="49" charset="-122"/>
              </a:rPr>
              <a:t>伦理问题</a:t>
            </a:r>
            <a:r>
              <a:rPr lang="zh-CN" altLang="en-US" b="1" dirty="0">
                <a:latin typeface="黑体" panose="02010609060101010101" pitchFamily="49" charset="-122"/>
                <a:ea typeface="黑体" panose="02010609060101010101" pitchFamily="49" charset="-122"/>
              </a:rPr>
              <a:t>：发现伦理问题</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该不该</a:t>
            </a:r>
            <a:r>
              <a:rPr lang="en-US" altLang="zh-CN" b="1" dirty="0">
                <a:latin typeface="黑体" panose="02010609060101010101" pitchFamily="49" charset="-122"/>
                <a:ea typeface="黑体" panose="02010609060101010101" pitchFamily="49" charset="-122"/>
              </a:rPr>
              <a:t>?)</a:t>
            </a:r>
          </a:p>
          <a:p>
            <a:pPr>
              <a:buFont typeface="Monotype Sorts"/>
              <a:buNone/>
            </a:pPr>
            <a:r>
              <a:rPr lang="en-US" altLang="zh-CN" b="1" dirty="0">
                <a:latin typeface="黑体" panose="02010609060101010101" pitchFamily="49" charset="-122"/>
                <a:ea typeface="黑体" panose="02010609060101010101" pitchFamily="49" charset="-122"/>
              </a:rPr>
              <a:t>2</a:t>
            </a:r>
            <a:r>
              <a:rPr lang="zh-CN" altLang="en-US" b="1" dirty="0">
                <a:latin typeface="黑体" panose="02010609060101010101" pitchFamily="49" charset="-122"/>
                <a:ea typeface="黑体" panose="02010609060101010101" pitchFamily="49" charset="-122"/>
              </a:rPr>
              <a:t>伦理准则：具体、操作性强的伦理准则</a:t>
            </a:r>
          </a:p>
          <a:p>
            <a:pPr>
              <a:buFont typeface="Monotype Sorts"/>
              <a:buNone/>
            </a:pPr>
            <a:r>
              <a:rPr lang="en-US" altLang="zh-CN" b="1" dirty="0">
                <a:latin typeface="黑体" panose="02010609060101010101" pitchFamily="49" charset="-122"/>
                <a:ea typeface="黑体" panose="02010609060101010101" pitchFamily="49" charset="-122"/>
              </a:rPr>
              <a:t>3</a:t>
            </a:r>
            <a:r>
              <a:rPr lang="zh-CN" altLang="en-US" b="1" dirty="0">
                <a:latin typeface="黑体" panose="02010609060101010101" pitchFamily="49" charset="-122"/>
                <a:ea typeface="黑体" panose="02010609060101010101" pitchFamily="49" charset="-122"/>
              </a:rPr>
              <a:t>伦理原则：基本的规范、普遍性原则；</a:t>
            </a:r>
          </a:p>
          <a:p>
            <a:pPr algn="ctr">
              <a:lnSpc>
                <a:spcPct val="105000"/>
              </a:lnSpc>
              <a:buClr>
                <a:srgbClr val="66FF33"/>
              </a:buClr>
              <a:buNone/>
            </a:pPr>
            <a:endParaRPr lang="zh-CN" altLang="en-US" b="1" dirty="0">
              <a:solidFill>
                <a:schemeClr val="hlink"/>
              </a:solidFill>
              <a:latin typeface="黑体" panose="02010609060101010101" pitchFamily="49" charset="-122"/>
              <a:ea typeface="黑体" panose="02010609060101010101" pitchFamily="49" charset="-122"/>
            </a:endParaRPr>
          </a:p>
          <a:p>
            <a:pPr>
              <a:lnSpc>
                <a:spcPct val="150000"/>
              </a:lnSpc>
              <a:spcBef>
                <a:spcPct val="0"/>
              </a:spcBef>
              <a:buClr>
                <a:srgbClr val="66FF33"/>
              </a:buClr>
            </a:pPr>
            <a:endParaRPr lang="zh-CN" altLang="en-US" b="1" dirty="0">
              <a:latin typeface="黑体" panose="02010609060101010101" pitchFamily="49" charset="-122"/>
              <a:ea typeface="黑体" panose="02010609060101010101" pitchFamily="49" charset="-122"/>
            </a:endParaRPr>
          </a:p>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amond(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amond(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amond(in)">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diamond(in)">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8" presetClass="entr" presetSubtype="16"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diamond(in)">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8" presetClass="entr" presetSubtype="16"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diamond(in)">
                                      <p:cBhvr>
                                        <p:cTn id="37"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3" algn="ctr" rtl="0">
              <a:spcBef>
                <a:spcPct val="0"/>
              </a:spcBef>
            </a:pPr>
            <a:r>
              <a:rPr lang="zh-CN" altLang="en-US" b="1" dirty="0"/>
              <a:t>在职业工作中的道德困境</a:t>
            </a:r>
            <a:br>
              <a:rPr lang="zh-CN" altLang="en-US" b="1" dirty="0"/>
            </a:br>
            <a:endParaRPr lang="zh-CN" altLang="en-US" dirty="0"/>
          </a:p>
        </p:txBody>
      </p:sp>
      <p:pic>
        <p:nvPicPr>
          <p:cNvPr id="4" name="Picture 3" descr="未命名"/>
          <p:cNvPicPr>
            <a:picLocks noGrp="1" noChangeAspect="1" noChangeArrowheads="1"/>
          </p:cNvPicPr>
          <p:nvPr>
            <p:ph idx="1"/>
          </p:nvPr>
        </p:nvPicPr>
        <p:blipFill>
          <a:blip r:embed="rId2" cstate="print"/>
          <a:srcRect/>
          <a:stretch>
            <a:fillRect/>
          </a:stretch>
        </p:blipFill>
        <p:spPr bwMode="auto">
          <a:xfrm>
            <a:off x="1119187" y="2839244"/>
            <a:ext cx="6905625" cy="2047875"/>
          </a:xfrm>
          <a:prstGeom prst="rect">
            <a:avLst/>
          </a:prstGeom>
          <a:noFill/>
          <a:ln w="9525">
            <a:noFill/>
            <a:miter lim="800000"/>
            <a:headEnd/>
            <a:tailEnd/>
          </a:ln>
        </p:spPr>
      </p:pic>
    </p:spTree>
  </p:cSld>
  <p:clrMapOvr>
    <a:masterClrMapping/>
  </p:clrMapOvr>
  <p:transition>
    <p:strips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1600200"/>
            <a:ext cx="3043230" cy="4525963"/>
          </a:xfrm>
        </p:spPr>
        <p:txBody>
          <a:bodyPr/>
          <a:lstStyle/>
          <a:p>
            <a:r>
              <a:rPr lang="zh-CN" altLang="en-US" sz="2400" b="1" dirty="0"/>
              <a:t>道德是通过社会舆论、个人的内心情念和价值观念，调节人与自然、人与人、个人与社会之间关系的行为准则和规范的总和。</a:t>
            </a:r>
          </a:p>
          <a:p>
            <a:endParaRPr lang="zh-CN" altLang="en-US" sz="2400" dirty="0"/>
          </a:p>
        </p:txBody>
      </p:sp>
      <p:pic>
        <p:nvPicPr>
          <p:cNvPr id="4" name="Picture 3" descr="道德的结构"/>
          <p:cNvPicPr>
            <a:picLocks noChangeAspect="1" noChangeArrowheads="1"/>
          </p:cNvPicPr>
          <p:nvPr/>
        </p:nvPicPr>
        <p:blipFill>
          <a:blip r:embed="rId2" cstate="print"/>
          <a:srcRect/>
          <a:stretch>
            <a:fillRect/>
          </a:stretch>
        </p:blipFill>
        <p:spPr bwMode="auto">
          <a:xfrm>
            <a:off x="3708400" y="836613"/>
            <a:ext cx="5092700" cy="5610225"/>
          </a:xfrm>
          <a:prstGeom prst="rect">
            <a:avLst/>
          </a:prstGeom>
          <a:noFill/>
          <a:ln w="28575">
            <a:solidFill>
              <a:srgbClr val="990000"/>
            </a:solidFill>
            <a:miter lim="800000"/>
            <a:headEnd/>
            <a:tailEnd/>
          </a:ln>
        </p:spPr>
      </p:pic>
    </p:spTree>
  </p:cSld>
  <p:clrMapOvr>
    <a:masterClrMapping/>
  </p:clrMapOvr>
  <p:transition>
    <p:strips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par>
                                <p:cTn id="8" presetID="8" presetClass="entr" presetSubtype="16"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amond(in)">
                                      <p:cBhvr>
                                        <p:cTn id="10"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noAutofit/>
          </a:bodyPr>
          <a:lstStyle/>
          <a:p>
            <a:r>
              <a:rPr lang="zh-CN" altLang="en-US" sz="2400" b="1" dirty="0"/>
              <a:t>古代“伦理”并不固定常用，而是使用</a:t>
            </a:r>
            <a:r>
              <a:rPr lang="zh-CN" altLang="en-US" sz="2400" b="1" dirty="0">
                <a:solidFill>
                  <a:srgbClr val="993300"/>
                </a:solidFill>
              </a:rPr>
              <a:t>义、理、人伦、伦常、纲常、天理</a:t>
            </a:r>
            <a:r>
              <a:rPr lang="zh-CN" altLang="en-US" sz="2400" b="1" dirty="0"/>
              <a:t>等词。</a:t>
            </a:r>
          </a:p>
          <a:p>
            <a:r>
              <a:rPr lang="zh-CN" altLang="zh-CN" sz="2400" b="1" dirty="0">
                <a:solidFill>
                  <a:schemeClr val="accent4">
                    <a:lumMod val="75000"/>
                  </a:schemeClr>
                </a:solidFill>
              </a:rPr>
              <a:t>林则徐 苟利国家生死以，岂因祸福避趋之</a:t>
            </a:r>
          </a:p>
          <a:p>
            <a:r>
              <a:rPr lang="zh-CN" altLang="zh-CN" sz="2400" b="1" dirty="0">
                <a:solidFill>
                  <a:schemeClr val="accent4">
                    <a:lumMod val="75000"/>
                  </a:schemeClr>
                </a:solidFill>
              </a:rPr>
              <a:t>岳飞 精忠报国</a:t>
            </a:r>
          </a:p>
          <a:p>
            <a:r>
              <a:rPr lang="zh-CN" altLang="zh-CN" sz="2400" b="1" dirty="0">
                <a:solidFill>
                  <a:schemeClr val="accent4">
                    <a:lumMod val="75000"/>
                  </a:schemeClr>
                </a:solidFill>
              </a:rPr>
              <a:t>三纲五常</a:t>
            </a:r>
            <a:r>
              <a:rPr lang="en-US" altLang="zh-CN" sz="2400" b="1" dirty="0">
                <a:solidFill>
                  <a:schemeClr val="accent4">
                    <a:lumMod val="75000"/>
                  </a:schemeClr>
                </a:solidFill>
              </a:rPr>
              <a:t>  </a:t>
            </a:r>
            <a:r>
              <a:rPr lang="zh-CN" altLang="zh-CN" sz="2400" b="1" dirty="0">
                <a:solidFill>
                  <a:schemeClr val="accent4">
                    <a:lumMod val="75000"/>
                  </a:schemeClr>
                </a:solidFill>
              </a:rPr>
              <a:t>三纲：君为臣纲，父为子纲，夫为妻纲。五常：仁、义、礼、智、信。</a:t>
            </a:r>
            <a:r>
              <a:rPr lang="zh-CN" altLang="en-US" sz="2400" b="1" dirty="0">
                <a:solidFill>
                  <a:schemeClr val="accent4">
                    <a:lumMod val="75000"/>
                  </a:schemeClr>
                </a:solidFill>
              </a:rPr>
              <a:t>我们称之为封建糟粕。</a:t>
            </a:r>
            <a:endParaRPr lang="zh-CN" altLang="zh-CN" sz="2400" b="1" dirty="0">
              <a:solidFill>
                <a:schemeClr val="accent4">
                  <a:lumMod val="75000"/>
                </a:schemeClr>
              </a:solidFill>
            </a:endParaRPr>
          </a:p>
          <a:p>
            <a:endParaRPr lang="zh-CN" altLang="en-US" sz="2400" b="1" dirty="0"/>
          </a:p>
          <a:p>
            <a:r>
              <a:rPr lang="zh-CN" altLang="en-US" sz="2400" b="1" dirty="0"/>
              <a:t>简言之，伦理：</a:t>
            </a:r>
            <a:endParaRPr lang="en-US" altLang="zh-CN" sz="2400" b="1" dirty="0"/>
          </a:p>
          <a:p>
            <a:r>
              <a:rPr lang="zh-CN" altLang="en-US" sz="2400" b="1" dirty="0"/>
              <a:t>（</a:t>
            </a:r>
            <a:r>
              <a:rPr lang="en-US" altLang="zh-CN" sz="2400" b="1" dirty="0">
                <a:sym typeface="Wingdings" panose="05000000000000000000" pitchFamily="2" charset="2"/>
              </a:rPr>
              <a:t>1</a:t>
            </a:r>
            <a:r>
              <a:rPr lang="zh-CN" altLang="en-US" sz="2400" b="1" dirty="0">
                <a:sym typeface="Wingdings" panose="05000000000000000000" pitchFamily="2" charset="2"/>
              </a:rPr>
              <a:t>）</a:t>
            </a:r>
            <a:r>
              <a:rPr lang="zh-CN" altLang="en-US" sz="2400" b="1" dirty="0"/>
              <a:t>是一种关系，一种依靠社会舆论、传统习惯和人们的内心信念来维系和评价的特定的社会关系。</a:t>
            </a:r>
            <a:endParaRPr lang="en-US" altLang="zh-CN" sz="2400" b="1" dirty="0"/>
          </a:p>
          <a:p>
            <a:r>
              <a:rPr lang="en-US" altLang="zh-CN" sz="2400" b="1" dirty="0"/>
              <a:t>(2)</a:t>
            </a:r>
            <a:r>
              <a:rPr lang="zh-CN" altLang="en-US" sz="2400" b="1" dirty="0"/>
              <a:t>以及处理这些关系应当遵循的道理和规范，其核心是“伦”。</a:t>
            </a:r>
          </a:p>
          <a:p>
            <a:endParaRPr lang="zh-CN" altLang="en-US" sz="2200" b="1" dirty="0"/>
          </a:p>
        </p:txBody>
      </p:sp>
    </p:spTree>
  </p:cSld>
  <p:clrMapOvr>
    <a:masterClrMapping/>
  </p:clrMapOvr>
  <p:transition>
    <p:strips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amond(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amond(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amond(in)">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diamond(in)">
                                      <p:cBhvr>
                                        <p:cTn id="27" dur="20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8" presetClass="entr" presetSubtype="16"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diamond(in)">
                                      <p:cBhvr>
                                        <p:cTn id="32" dur="20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8" presetClass="entr" presetSubtype="16"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diamond(in)">
                                      <p:cBhvr>
                                        <p:cTn id="37"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a:t>伦理与道德的区别</a:t>
            </a:r>
          </a:p>
        </p:txBody>
      </p:sp>
      <p:sp>
        <p:nvSpPr>
          <p:cNvPr id="3" name="内容占位符 2"/>
          <p:cNvSpPr>
            <a:spLocks noGrp="1"/>
          </p:cNvSpPr>
          <p:nvPr>
            <p:ph idx="1"/>
          </p:nvPr>
        </p:nvSpPr>
        <p:spPr/>
        <p:txBody>
          <a:bodyPr>
            <a:normAutofit/>
          </a:bodyPr>
          <a:lstStyle/>
          <a:p>
            <a:r>
              <a:rPr lang="en-US" altLang="zh-CN" sz="2400" b="1" dirty="0">
                <a:latin typeface="宋体" panose="02010600030101010101" pitchFamily="2" charset="-122"/>
              </a:rPr>
              <a:t>1</a:t>
            </a:r>
            <a:r>
              <a:rPr lang="zh-CN" altLang="en-US" sz="2400" b="1" dirty="0">
                <a:latin typeface="宋体" panose="02010600030101010101" pitchFamily="2" charset="-122"/>
              </a:rPr>
              <a:t>．作为日常用法，“伦理”更具客观、外在、社会性意味；“道德”更多地或更有可能用于个人，更含主观、内在、个体性意味。</a:t>
            </a:r>
          </a:p>
          <a:p>
            <a:r>
              <a:rPr lang="en-US" altLang="zh-CN" sz="2400" b="1" dirty="0">
                <a:latin typeface="宋体" panose="02010600030101010101" pitchFamily="2" charset="-122"/>
              </a:rPr>
              <a:t>2</a:t>
            </a:r>
            <a:r>
              <a:rPr lang="zh-CN" altLang="en-US" sz="2400" b="1" dirty="0">
                <a:latin typeface="宋体" panose="02010600030101010101" pitchFamily="2" charset="-122"/>
              </a:rPr>
              <a:t>．作为规范，伦理具有普遍性，道德具有独特性。</a:t>
            </a:r>
          </a:p>
          <a:p>
            <a:r>
              <a:rPr lang="en-US" altLang="zh-CN" sz="2400" b="1" dirty="0">
                <a:latin typeface="宋体" panose="02010600030101010101" pitchFamily="2" charset="-122"/>
              </a:rPr>
              <a:t>3</a:t>
            </a:r>
            <a:r>
              <a:rPr lang="zh-CN" altLang="en-US" sz="2400" b="1" dirty="0">
                <a:latin typeface="宋体" panose="02010600030101010101" pitchFamily="2" charset="-122"/>
              </a:rPr>
              <a:t>．作为评价尺度，伦理的尺度是对（正当）与错（不正当），道德的尺度是好（善）与坏（恶）。</a:t>
            </a:r>
          </a:p>
          <a:p>
            <a:r>
              <a:rPr lang="en-US" altLang="zh-CN" sz="2400" b="1" dirty="0">
                <a:latin typeface="宋体" panose="02010600030101010101" pitchFamily="2" charset="-122"/>
              </a:rPr>
              <a:t>4. </a:t>
            </a:r>
            <a:r>
              <a:rPr lang="zh-CN" altLang="en-US" sz="2400" b="1" dirty="0">
                <a:latin typeface="宋体" panose="02010600030101010101" pitchFamily="2" charset="-122"/>
              </a:rPr>
              <a:t>作为价值本身，伦理的核心是正当（适当、合适、合宜等），道德的核心是善（或美德、德性、好等）。</a:t>
            </a:r>
          </a:p>
        </p:txBody>
      </p:sp>
    </p:spTree>
  </p:cSld>
  <p:clrMapOvr>
    <a:masterClrMapping/>
  </p:clrMapOvr>
  <p:transition>
    <p:strips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2000"/>
                                        <p:tgtEl>
                                          <p:spTgt spid="2"/>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diamond(in)">
                                      <p:cBhvr>
                                        <p:cTn id="10" dur="2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8" presetClass="entr" presetSubtype="16"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diamond(in)">
                                      <p:cBhvr>
                                        <p:cTn id="15" dur="20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8" presetClass="entr" presetSubtype="16"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diamond(in)">
                                      <p:cBhvr>
                                        <p:cTn id="20" dur="20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8" presetClass="entr" presetSubtype="16"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diamond(in)">
                                      <p:cBhvr>
                                        <p:cTn id="25"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normAutofit fontScale="92500" lnSpcReduction="20000"/>
          </a:bodyPr>
          <a:lstStyle/>
          <a:p>
            <a:r>
              <a:rPr lang="zh-CN" altLang="en-US" b="1" dirty="0"/>
              <a:t>案例</a:t>
            </a:r>
            <a:endParaRPr lang="en-US" altLang="zh-CN" b="1" dirty="0"/>
          </a:p>
          <a:p>
            <a:r>
              <a:rPr lang="zh-CN" altLang="en-US" b="1" dirty="0">
                <a:ea typeface="楷体_GB2312" pitchFamily="49" charset="-122"/>
              </a:rPr>
              <a:t>一位５岁女孩患肾炎继发肾功能衰竭住院三年，一直做肾透析，等候肾移植。经父母商讨，同意家人进行活体移植。</a:t>
            </a:r>
          </a:p>
          <a:p>
            <a:r>
              <a:rPr lang="zh-CN" altLang="en-US" b="1" dirty="0">
                <a:ea typeface="楷体_GB2312" pitchFamily="49" charset="-122"/>
              </a:rPr>
              <a:t>经检查：其母因组织类型不符被排除，其弟年纪小也不适宜，其父符合。医生与其父商量用为供者，但其父经一番思考，决定不做供者，并恳请医生告诉他的家人他不适合作供者，因他怕家人指责他对子女没有感情，医生虽不大满意还是按照他的意图做了。</a:t>
            </a:r>
          </a:p>
          <a:p>
            <a:r>
              <a:rPr lang="zh-CN" altLang="en-US" b="1" dirty="0"/>
              <a:t>讨论：你同意其父的做法对吗？并说明理由。</a:t>
            </a:r>
          </a:p>
          <a:p>
            <a:endParaRPr lang="zh-CN" altLang="en-US" b="1" dirty="0"/>
          </a:p>
        </p:txBody>
      </p:sp>
    </p:spTree>
  </p:cSld>
  <p:clrMapOvr>
    <a:masterClrMapping/>
  </p:clrMapOvr>
  <p:transition>
    <p:strips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par>
                                <p:cTn id="8" presetID="8" presetClass="entr" presetSubtype="16"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amond(in)">
                                      <p:cBhvr>
                                        <p:cTn id="10" dur="2000"/>
                                        <p:tgtEl>
                                          <p:spTgt spid="3">
                                            <p:txEl>
                                              <p:pRg st="1" end="1"/>
                                            </p:txEl>
                                          </p:spTgt>
                                        </p:tgtEl>
                                      </p:cBhvr>
                                    </p:animEffect>
                                  </p:childTnLst>
                                </p:cTn>
                              </p:par>
                              <p:par>
                                <p:cTn id="11" presetID="8" presetClass="entr" presetSubtype="16"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diamond(in)">
                                      <p:cBhvr>
                                        <p:cTn id="13" dur="2000"/>
                                        <p:tgtEl>
                                          <p:spTgt spid="3">
                                            <p:txEl>
                                              <p:pRg st="2" end="2"/>
                                            </p:txEl>
                                          </p:spTgt>
                                        </p:tgtEl>
                                      </p:cBhvr>
                                    </p:animEffect>
                                  </p:childTnLst>
                                </p:cTn>
                              </p:par>
                              <p:par>
                                <p:cTn id="14" presetID="8" presetClass="entr" presetSubtype="16"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diamond(in)">
                                      <p:cBhvr>
                                        <p:cTn id="16"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pPr>
              <a:lnSpc>
                <a:spcPct val="105000"/>
              </a:lnSpc>
            </a:pPr>
            <a:r>
              <a:rPr lang="zh-CN" altLang="en-US" sz="2400" b="1" dirty="0"/>
              <a:t>父亲对其子女有抚养的责任，当女儿生命处于危机之中，父亲为了保全自己，连亲骨肉也“视死不救”，在道德上是有缺陷的，为中国的传统道德所不容，会受到人们的谴责，也影响家庭的和睦，在个人良心上也是一件憾事。</a:t>
            </a:r>
          </a:p>
          <a:p>
            <a:pPr>
              <a:lnSpc>
                <a:spcPct val="105000"/>
              </a:lnSpc>
            </a:pPr>
            <a:r>
              <a:rPr lang="zh-CN" altLang="en-US" sz="2400" b="1" dirty="0"/>
              <a:t>女孩的生命质量已很低，即便移植成功生命质量也难以保障，以一方的器官丧失来挽救成活未卜的５岁孩子，从效用上未必有价值。况且，其父是中年人，还有扶养另一子女的责任，正是干事业的最佳年龄，从代价效应分析，他不做供体也是有理由的。</a:t>
            </a:r>
          </a:p>
        </p:txBody>
      </p:sp>
    </p:spTree>
  </p:cSld>
  <p:clrMapOvr>
    <a:masterClrMapping/>
  </p:clrMapOvr>
  <p:transition>
    <p:strips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par>
                                <p:cTn id="8" presetID="8" presetClass="entr" presetSubtype="16"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amond(in)">
                                      <p:cBhvr>
                                        <p:cTn id="10"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55000" lnSpcReduction="20000"/>
          </a:bodyPr>
          <a:lstStyle/>
          <a:p>
            <a:r>
              <a:rPr lang="zh-CN" altLang="zh-CN" sz="3800" b="1" dirty="0">
                <a:solidFill>
                  <a:srgbClr val="C00000"/>
                </a:solidFill>
              </a:rPr>
              <a:t>呼吸机不够用该先救谁？年轻先救？先来先得？有人打算按彩票随机抽…</a:t>
            </a:r>
          </a:p>
          <a:p>
            <a:r>
              <a:rPr lang="en-US" altLang="zh-CN" sz="3800" b="1" dirty="0"/>
              <a:t>2020</a:t>
            </a:r>
            <a:r>
              <a:rPr lang="zh-CN" altLang="zh-CN" sz="3800" b="1" dirty="0"/>
              <a:t>年</a:t>
            </a:r>
            <a:r>
              <a:rPr lang="en-US" altLang="zh-CN" sz="3800" b="1" dirty="0"/>
              <a:t>3</a:t>
            </a:r>
            <a:r>
              <a:rPr lang="zh-CN" altLang="zh-CN" sz="3800" b="1" dirty="0"/>
              <a:t>月末，一则新闻在外网广为流传。来自比利时的</a:t>
            </a:r>
            <a:r>
              <a:rPr lang="en-US" altLang="zh-CN" sz="3800" b="1" dirty="0"/>
              <a:t>90</a:t>
            </a:r>
            <a:r>
              <a:rPr lang="zh-CN" altLang="zh-CN" sz="3800" b="1" dirty="0"/>
              <a:t>岁女性，</a:t>
            </a:r>
            <a:r>
              <a:rPr lang="en-US" altLang="zh-CN" sz="3800" b="1" dirty="0"/>
              <a:t>Suzanne Hoylaerts</a:t>
            </a:r>
            <a:r>
              <a:rPr lang="zh-CN" altLang="zh-CN" sz="3800" b="1" dirty="0"/>
              <a:t>在</a:t>
            </a:r>
            <a:r>
              <a:rPr lang="en-US" altLang="zh-CN" sz="3800" b="1" dirty="0"/>
              <a:t>3</a:t>
            </a:r>
            <a:r>
              <a:rPr lang="zh-CN" altLang="zh-CN" sz="3800" b="1" dirty="0"/>
              <a:t>月</a:t>
            </a:r>
            <a:r>
              <a:rPr lang="en-US" altLang="zh-CN" sz="3800" b="1" dirty="0"/>
              <a:t>20</a:t>
            </a:r>
            <a:r>
              <a:rPr lang="zh-CN" altLang="zh-CN" sz="3800" b="1" dirty="0"/>
              <a:t>日感觉不适前往医院，后确诊新冠。</a:t>
            </a:r>
            <a:br>
              <a:rPr lang="en-US" altLang="zh-CN" sz="3800" b="1" dirty="0"/>
            </a:br>
            <a:r>
              <a:rPr lang="zh-CN" altLang="zh-CN" sz="3800" b="1" dirty="0"/>
              <a:t>当医生问她要不要用呼吸机时，她说，“我不想用人工呼吸机了。把它留给更年轻的病人吧。我已经过了很好的一生。”</a:t>
            </a:r>
            <a:br>
              <a:rPr lang="en-US" altLang="zh-CN" sz="3800" b="1" dirty="0"/>
            </a:br>
            <a:r>
              <a:rPr lang="zh-CN" altLang="zh-CN" sz="3800" b="1" dirty="0"/>
              <a:t>两天后，她死了。</a:t>
            </a:r>
            <a:endParaRPr lang="en-US" altLang="zh-CN" sz="3800" b="1" dirty="0"/>
          </a:p>
          <a:p>
            <a:r>
              <a:rPr lang="zh-CN" altLang="zh-CN" sz="3800" b="1" dirty="0"/>
              <a:t>在平日里，得到救治看的是“严重程度”，当一个出了车祸并且有内出血迹象的病患和一个手骨折的病患站在一起，前者会先得到救治。在纽约的医院，有一份</a:t>
            </a:r>
            <a:r>
              <a:rPr lang="en-US" altLang="zh-CN" sz="3800" b="1" dirty="0"/>
              <a:t>2015</a:t>
            </a:r>
            <a:r>
              <a:rPr lang="zh-CN" altLang="zh-CN" sz="3800" b="1" dirty="0"/>
              <a:t>年的《呼吸机分配指南》，上面写着，“主要目标：拯救更多的生命。”</a:t>
            </a:r>
            <a:br>
              <a:rPr lang="en-US" altLang="zh-CN" sz="3800" b="1" dirty="0"/>
            </a:br>
            <a:r>
              <a:rPr lang="zh-CN" altLang="zh-CN" sz="3800" b="1" dirty="0"/>
              <a:t>可是在新冠时期，这种“指南”和“规则”都无效了……</a:t>
            </a:r>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amond(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amond(in)">
                                      <p:cBhvr>
                                        <p:cTn id="17"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Autofit/>
          </a:bodyPr>
          <a:lstStyle/>
          <a:p>
            <a:r>
              <a:rPr lang="zh-CN" altLang="zh-CN" sz="2000" b="1" dirty="0"/>
              <a:t>怎么样才是公平的？以上述的案例为例，三个病患，一台呼吸机。</a:t>
            </a:r>
            <a:br>
              <a:rPr lang="en-US" altLang="zh-CN" sz="2000" b="1" dirty="0"/>
            </a:br>
            <a:r>
              <a:rPr lang="zh-CN" altLang="zh-CN" sz="2000" b="1" dirty="0"/>
              <a:t>有的医院会选择挽救三名患者中最年轻的一位，理由是他们的生存时间最短，而过早死亡对他们来说最不公平，这是站在哲学角度进行的选择。另一家医院可能会决定挽救最有可能存活的人。</a:t>
            </a:r>
            <a:br>
              <a:rPr lang="en-US" altLang="zh-CN" sz="2000" b="1" dirty="0"/>
            </a:br>
            <a:r>
              <a:rPr lang="zh-CN" altLang="zh-CN" sz="2000" b="1" dirty="0"/>
              <a:t>一些医院偏好遵从“先到先得”的原则进行救治，还有一些则会看病患里有没有医护人员，优先救治他们，因为他们痊愈后可以挽救更多人的性命……</a:t>
            </a:r>
            <a:br>
              <a:rPr lang="en-US" altLang="zh-CN" sz="2000" b="1" dirty="0"/>
            </a:br>
            <a:r>
              <a:rPr lang="zh-CN" altLang="zh-CN" sz="2000" b="1" dirty="0">
                <a:solidFill>
                  <a:srgbClr val="C00000"/>
                </a:solidFill>
              </a:rPr>
              <a:t>这些，都没有错，都是一种分诊（</a:t>
            </a:r>
            <a:r>
              <a:rPr lang="en-US" altLang="zh-CN" sz="2000" b="1" dirty="0">
                <a:solidFill>
                  <a:srgbClr val="C00000"/>
                </a:solidFill>
              </a:rPr>
              <a:t>Triage</a:t>
            </a:r>
            <a:r>
              <a:rPr lang="zh-CN" altLang="zh-CN" sz="2000" b="1" dirty="0">
                <a:solidFill>
                  <a:srgbClr val="C00000"/>
                </a:solidFill>
              </a:rPr>
              <a:t>）的选择，但也是一种生死抉择。</a:t>
            </a:r>
            <a:br>
              <a:rPr lang="en-US" altLang="zh-CN" sz="2000" b="1" dirty="0"/>
            </a:br>
            <a:r>
              <a:rPr lang="zh-CN" altLang="zh-CN" sz="2000" b="1" dirty="0"/>
              <a:t>目前不少国家考虑到这种决策的复杂性，一般不会让医生当场做决定，而是由专门的小组在排除了宗教信仰，种族，性别，残疾状况，财务状况等因素后下决定。</a:t>
            </a:r>
            <a:br>
              <a:rPr lang="en-US" altLang="zh-CN" sz="2000" b="1" dirty="0"/>
            </a:br>
            <a:r>
              <a:rPr lang="zh-CN" altLang="zh-CN" sz="2000" b="1" dirty="0"/>
              <a:t>在美国，不少医院在没有联邦指导的情况下，已经组成了</a:t>
            </a:r>
            <a:r>
              <a:rPr lang="zh-CN" altLang="zh-CN" sz="2000" b="1" dirty="0">
                <a:solidFill>
                  <a:srgbClr val="C00000"/>
                </a:solidFill>
              </a:rPr>
              <a:t>分诊委员会</a:t>
            </a:r>
            <a:r>
              <a:rPr lang="zh-CN" altLang="zh-CN" sz="2000" b="1" dirty="0"/>
              <a:t>来指导生死决策。</a:t>
            </a:r>
            <a:endParaRPr lang="zh-CN" altLang="en-US" sz="20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22"/>
          <p:cNvGrpSpPr/>
          <p:nvPr/>
        </p:nvGrpSpPr>
        <p:grpSpPr>
          <a:xfrm>
            <a:off x="3203848" y="968695"/>
            <a:ext cx="5014691" cy="1419860"/>
            <a:chOff x="365476" y="3325188"/>
            <a:chExt cx="5066229" cy="1419860"/>
          </a:xfrm>
        </p:grpSpPr>
        <p:sp>
          <p:nvSpPr>
            <p:cNvPr id="24" name="矩形 23"/>
            <p:cNvSpPr/>
            <p:nvPr/>
          </p:nvSpPr>
          <p:spPr>
            <a:xfrm>
              <a:off x="874712" y="3677812"/>
              <a:ext cx="4556993" cy="312420"/>
            </a:xfrm>
            <a:prstGeom prst="rect">
              <a:avLst/>
            </a:prstGeom>
          </p:spPr>
          <p:txBody>
            <a:bodyPr wrap="square">
              <a:spAutoFit/>
              <a:scene3d>
                <a:camera prst="orthographicFront"/>
                <a:lightRig rig="threePt" dir="t"/>
              </a:scene3d>
              <a:sp3d contourW="12700"/>
            </a:bodyPr>
            <a:lstStyle/>
            <a:p>
              <a:pPr algn="just">
                <a:lnSpc>
                  <a:spcPct val="120000"/>
                </a:lnSpc>
              </a:pPr>
              <a:r>
                <a:rPr lang="en-US" altLang="zh-CN" sz="1200" dirty="0">
                  <a:solidFill>
                    <a:schemeClr val="bg1">
                      <a:lumMod val="50000"/>
                    </a:schemeClr>
                  </a:solidFill>
                  <a:latin typeface="字魂36号-正文宋楷" panose="02000000000000000000" pitchFamily="2" charset="-122"/>
                  <a:ea typeface="字魂36号-正文宋楷" panose="02000000000000000000" pitchFamily="2" charset="-122"/>
                </a:rPr>
                <a:t>.</a:t>
              </a:r>
            </a:p>
          </p:txBody>
        </p:sp>
        <p:sp>
          <p:nvSpPr>
            <p:cNvPr id="25" name="矩形 24"/>
            <p:cNvSpPr/>
            <p:nvPr/>
          </p:nvSpPr>
          <p:spPr>
            <a:xfrm>
              <a:off x="365476" y="3325188"/>
              <a:ext cx="4883736" cy="1419860"/>
            </a:xfrm>
            <a:prstGeom prst="rect">
              <a:avLst/>
            </a:prstGeom>
          </p:spPr>
          <p:txBody>
            <a:bodyPr wrap="square">
              <a:spAutoFit/>
              <a:scene3d>
                <a:camera prst="orthographicFront"/>
                <a:lightRig rig="threePt" dir="t"/>
              </a:scene3d>
              <a:sp3d contourW="12700"/>
            </a:bodyPr>
            <a:lstStyle/>
            <a:p>
              <a:pPr algn="just">
                <a:lnSpc>
                  <a:spcPct val="120000"/>
                </a:lnSpc>
              </a:pPr>
              <a:r>
                <a:rPr lang="en-US" altLang="zh-CN" b="1" dirty="0">
                  <a:solidFill>
                    <a:schemeClr val="tx1"/>
                  </a:solidFill>
                  <a:latin typeface="字魂36号-正文宋楷" panose="02000000000000000000" pitchFamily="2" charset="-122"/>
                  <a:ea typeface="字魂36号-正文宋楷" panose="02000000000000000000" pitchFamily="2" charset="-122"/>
                </a:rPr>
                <a:t>2020</a:t>
              </a:r>
              <a:r>
                <a:rPr lang="zh-CN" altLang="en-US" b="1" dirty="0">
                  <a:solidFill>
                    <a:schemeClr val="tx1"/>
                  </a:solidFill>
                  <a:latin typeface="字魂36号-正文宋楷" panose="02000000000000000000" pitchFamily="2" charset="-122"/>
                  <a:ea typeface="字魂36号-正文宋楷" panose="02000000000000000000" pitchFamily="2" charset="-122"/>
                </a:rPr>
                <a:t>年的春天，意大利成为疫情的重灾区，有一所位于意大利疫情最严重的大区的小城，医疗物资十分短缺。当地一家医院，向社会发布呼吸阀短缺的求救信息。</a:t>
              </a:r>
            </a:p>
          </p:txBody>
        </p:sp>
      </p:grpSp>
      <p:grpSp>
        <p:nvGrpSpPr>
          <p:cNvPr id="3" name="组合 28"/>
          <p:cNvGrpSpPr/>
          <p:nvPr/>
        </p:nvGrpSpPr>
        <p:grpSpPr>
          <a:xfrm>
            <a:off x="2123728" y="2988631"/>
            <a:ext cx="6032898" cy="1087755"/>
            <a:chOff x="720277" y="2975303"/>
            <a:chExt cx="4556993" cy="1087755"/>
          </a:xfrm>
        </p:grpSpPr>
        <p:sp>
          <p:nvSpPr>
            <p:cNvPr id="30" name="矩形 29"/>
            <p:cNvSpPr/>
            <p:nvPr/>
          </p:nvSpPr>
          <p:spPr>
            <a:xfrm>
              <a:off x="720277" y="3678447"/>
              <a:ext cx="4556993" cy="312420"/>
            </a:xfrm>
            <a:prstGeom prst="rect">
              <a:avLst/>
            </a:prstGeom>
          </p:spPr>
          <p:txBody>
            <a:bodyPr wrap="square">
              <a:spAutoFit/>
              <a:scene3d>
                <a:camera prst="orthographicFront"/>
                <a:lightRig rig="threePt" dir="t"/>
              </a:scene3d>
              <a:sp3d contourW="12700"/>
            </a:bodyPr>
            <a:lstStyle/>
            <a:p>
              <a:pPr algn="just">
                <a:lnSpc>
                  <a:spcPct val="120000"/>
                </a:lnSpc>
              </a:pPr>
              <a:endParaRPr lang="en-US" altLang="zh-CN" sz="1200" dirty="0">
                <a:solidFill>
                  <a:schemeClr val="bg1">
                    <a:lumMod val="50000"/>
                  </a:schemeClr>
                </a:solidFill>
                <a:latin typeface="字魂36号-正文宋楷" panose="02000000000000000000" pitchFamily="2" charset="-122"/>
                <a:ea typeface="字魂36号-正文宋楷" panose="02000000000000000000" pitchFamily="2" charset="-122"/>
              </a:endParaRPr>
            </a:p>
          </p:txBody>
        </p:sp>
        <p:sp>
          <p:nvSpPr>
            <p:cNvPr id="31" name="矩形 30"/>
            <p:cNvSpPr/>
            <p:nvPr/>
          </p:nvSpPr>
          <p:spPr>
            <a:xfrm>
              <a:off x="720277" y="2975303"/>
              <a:ext cx="4159269" cy="1087755"/>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b="1" dirty="0">
                  <a:solidFill>
                    <a:schemeClr val="tx1"/>
                  </a:solidFill>
                  <a:latin typeface="字魂36号-正文宋楷" panose="02000000000000000000" pitchFamily="2" charset="-122"/>
                  <a:ea typeface="字魂36号-正文宋楷" panose="02000000000000000000" pitchFamily="2" charset="-122"/>
                </a:rPr>
                <a:t>这时有三位年轻人，他们挺身而出，利用</a:t>
              </a:r>
              <a:r>
                <a:rPr lang="en-US" altLang="zh-CN" b="1" dirty="0">
                  <a:solidFill>
                    <a:schemeClr val="tx1"/>
                  </a:solidFill>
                  <a:latin typeface="字魂36号-正文宋楷" panose="02000000000000000000" pitchFamily="2" charset="-122"/>
                  <a:ea typeface="字魂36号-正文宋楷" panose="02000000000000000000" pitchFamily="2" charset="-122"/>
                </a:rPr>
                <a:t>3D</a:t>
              </a:r>
              <a:r>
                <a:rPr lang="zh-CN" altLang="en-US" b="1" dirty="0">
                  <a:solidFill>
                    <a:schemeClr val="tx1"/>
                  </a:solidFill>
                  <a:latin typeface="字魂36号-正文宋楷" panose="02000000000000000000" pitchFamily="2" charset="-122"/>
                  <a:ea typeface="字魂36号-正文宋楷" panose="02000000000000000000" pitchFamily="2" charset="-122"/>
                </a:rPr>
                <a:t>打印技术，绕过呼吸阀生产商，开始打印出一些可以使用的呼吸阀给医院使用。</a:t>
              </a:r>
            </a:p>
          </p:txBody>
        </p:sp>
      </p:grpSp>
      <p:grpSp>
        <p:nvGrpSpPr>
          <p:cNvPr id="4" name="组合 31"/>
          <p:cNvGrpSpPr/>
          <p:nvPr/>
        </p:nvGrpSpPr>
        <p:grpSpPr>
          <a:xfrm>
            <a:off x="899592" y="4599941"/>
            <a:ext cx="7318947" cy="1419860"/>
            <a:chOff x="874712" y="3325188"/>
            <a:chExt cx="4556993" cy="1419860"/>
          </a:xfrm>
        </p:grpSpPr>
        <p:sp>
          <p:nvSpPr>
            <p:cNvPr id="33" name="矩形 32"/>
            <p:cNvSpPr/>
            <p:nvPr/>
          </p:nvSpPr>
          <p:spPr>
            <a:xfrm>
              <a:off x="874712" y="3677812"/>
              <a:ext cx="4556993" cy="312420"/>
            </a:xfrm>
            <a:prstGeom prst="rect">
              <a:avLst/>
            </a:prstGeom>
          </p:spPr>
          <p:txBody>
            <a:bodyPr wrap="square">
              <a:spAutoFit/>
              <a:scene3d>
                <a:camera prst="orthographicFront"/>
                <a:lightRig rig="threePt" dir="t"/>
              </a:scene3d>
              <a:sp3d contourW="12700"/>
            </a:bodyPr>
            <a:lstStyle/>
            <a:p>
              <a:pPr algn="just">
                <a:lnSpc>
                  <a:spcPct val="120000"/>
                </a:lnSpc>
              </a:pPr>
              <a:endParaRPr lang="en-US" altLang="zh-CN" sz="1200" dirty="0">
                <a:solidFill>
                  <a:schemeClr val="bg1">
                    <a:lumMod val="50000"/>
                  </a:schemeClr>
                </a:solidFill>
                <a:latin typeface="字魂36号-正文宋楷" panose="02000000000000000000" pitchFamily="2" charset="-122"/>
                <a:ea typeface="字魂36号-正文宋楷" panose="02000000000000000000" pitchFamily="2" charset="-122"/>
              </a:endParaRPr>
            </a:p>
          </p:txBody>
        </p:sp>
        <p:sp>
          <p:nvSpPr>
            <p:cNvPr id="34" name="矩形 33"/>
            <p:cNvSpPr/>
            <p:nvPr/>
          </p:nvSpPr>
          <p:spPr>
            <a:xfrm>
              <a:off x="874712" y="3325188"/>
              <a:ext cx="4466044" cy="1419860"/>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b="1" dirty="0">
                  <a:solidFill>
                    <a:schemeClr val="tx1"/>
                  </a:solidFill>
                  <a:latin typeface="字魂36号-正文宋楷" panose="02000000000000000000" pitchFamily="2" charset="-122"/>
                  <a:ea typeface="字魂36号-正文宋楷" panose="02000000000000000000" pitchFamily="2" charset="-122"/>
                </a:rPr>
                <a:t>当他们向制造商求助，以获得更精细的呼吸阀图纸时，制造商却回绝了他们，并给出专利警告。</a:t>
              </a:r>
              <a:r>
                <a:rPr lang="zh-CN" altLang="en-US" b="1" dirty="0">
                  <a:solidFill>
                    <a:schemeClr val="tx1"/>
                  </a:solidFill>
                  <a:latin typeface="字魂36号-正文宋楷" panose="02000000000000000000" pitchFamily="2" charset="-122"/>
                  <a:ea typeface="字魂36号-正文宋楷" panose="02000000000000000000" pitchFamily="2" charset="-122"/>
                  <a:sym typeface="+mn-ea"/>
                </a:rPr>
                <a:t>此举一出，引起意大利人民的愤怒，许多人认为制造商不应将利益放在人命上，这是背离人道的。</a:t>
              </a:r>
              <a:endParaRPr lang="zh-CN" altLang="en-US" b="1" dirty="0">
                <a:solidFill>
                  <a:schemeClr val="tx1"/>
                </a:solidFill>
                <a:latin typeface="字魂36号-正文宋楷" panose="02000000000000000000" pitchFamily="2" charset="-122"/>
                <a:ea typeface="字魂36号-正文宋楷" panose="02000000000000000000" pitchFamily="2" charset="-122"/>
              </a:endParaRPr>
            </a:p>
            <a:p>
              <a:pPr algn="just">
                <a:lnSpc>
                  <a:spcPct val="120000"/>
                </a:lnSpc>
              </a:pPr>
              <a:endParaRPr lang="zh-CN" altLang="en-US" b="1" dirty="0">
                <a:solidFill>
                  <a:schemeClr val="tx1"/>
                </a:solidFill>
                <a:latin typeface="字魂36号-正文宋楷" panose="02000000000000000000" pitchFamily="2" charset="-122"/>
                <a:ea typeface="字魂36号-正文宋楷" panose="02000000000000000000" pitchFamily="2" charset="-122"/>
              </a:endParaRPr>
            </a:p>
          </p:txBody>
        </p:sp>
      </p:grpSp>
      <p:sp>
        <p:nvSpPr>
          <p:cNvPr id="17" name="矩形 16"/>
          <p:cNvSpPr/>
          <p:nvPr/>
        </p:nvSpPr>
        <p:spPr>
          <a:xfrm>
            <a:off x="611560" y="260648"/>
            <a:ext cx="3672408" cy="584775"/>
          </a:xfrm>
          <a:prstGeom prst="rect">
            <a:avLst/>
          </a:prstGeom>
        </p:spPr>
        <p:txBody>
          <a:bodyPr wrap="square">
            <a:spAutoFit/>
          </a:bodyPr>
          <a:lstStyle/>
          <a:p>
            <a:r>
              <a:rPr lang="zh-CN" altLang="en-US" sz="3200" b="1" dirty="0"/>
              <a:t>如何看待下列问题？</a:t>
            </a:r>
            <a:endParaRPr lang="zh-CN" altLang="en-US" sz="3200" dirty="0"/>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1+#ppt_w/2"/>
                                          </p:val>
                                        </p:tav>
                                        <p:tav tm="100000">
                                          <p:val>
                                            <p:strVal val="#ppt_x"/>
                                          </p:val>
                                        </p:tav>
                                      </p:tavLst>
                                    </p:anim>
                                    <p:anim calcmode="lin" valueType="num">
                                      <p:cBhvr additive="base">
                                        <p:cTn id="13" dur="500" fill="hold"/>
                                        <p:tgtEl>
                                          <p:spTgt spid="3"/>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2"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1+#ppt_w/2"/>
                                          </p:val>
                                        </p:tav>
                                        <p:tav tm="100000">
                                          <p:val>
                                            <p:strVal val="#ppt_x"/>
                                          </p:val>
                                        </p:tav>
                                      </p:tavLst>
                                    </p:anim>
                                    <p:anim calcmode="lin" valueType="num">
                                      <p:cBhvr additive="base">
                                        <p:cTn id="1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25000" lnSpcReduction="20000"/>
          </a:bodyPr>
          <a:lstStyle/>
          <a:p>
            <a:endParaRPr lang="en-US" altLang="zh-CN" sz="3800" dirty="0"/>
          </a:p>
          <a:p>
            <a:r>
              <a:rPr lang="zh-CN" altLang="zh-CN" sz="7200" b="1" dirty="0"/>
              <a:t>牛津大学女子捅伤男友或不用坐牢 法官：她太聪明</a:t>
            </a:r>
            <a:endParaRPr lang="en-US" altLang="zh-CN" sz="7200" b="1" dirty="0"/>
          </a:p>
          <a:p>
            <a:r>
              <a:rPr lang="zh-CN" altLang="zh-CN" sz="7200" b="1" dirty="0"/>
              <a:t>坐牢会毁了她</a:t>
            </a:r>
          </a:p>
          <a:p>
            <a:r>
              <a:rPr lang="en-US" altLang="zh-CN" sz="7200" b="1" dirty="0"/>
              <a:t>2017-05-17 15:56</a:t>
            </a:r>
            <a:r>
              <a:rPr lang="zh-CN" altLang="zh-CN" sz="7200" b="1" dirty="0"/>
              <a:t>来源：中国日报网</a:t>
            </a:r>
          </a:p>
          <a:p>
            <a:r>
              <a:rPr lang="zh-CN" altLang="zh-CN" sz="7200" b="1" dirty="0"/>
              <a:t>　　　中国日报网</a:t>
            </a:r>
            <a:r>
              <a:rPr lang="en-US" altLang="zh-CN" sz="7200" b="1" dirty="0"/>
              <a:t>5</a:t>
            </a:r>
            <a:r>
              <a:rPr lang="zh-CN" altLang="zh-CN" sz="7200" b="1" dirty="0"/>
              <a:t>月</a:t>
            </a:r>
            <a:r>
              <a:rPr lang="en-US" altLang="zh-CN" sz="7200" b="1" dirty="0"/>
              <a:t>17</a:t>
            </a:r>
            <a:r>
              <a:rPr lang="zh-CN" altLang="zh-CN" sz="7200" b="1" dirty="0"/>
              <a:t>日电 据英国《太阳报》</a:t>
            </a:r>
            <a:r>
              <a:rPr lang="en-US" altLang="zh-CN" sz="7200" b="1" dirty="0"/>
              <a:t>5</a:t>
            </a:r>
            <a:r>
              <a:rPr lang="zh-CN" altLang="zh-CN" sz="7200" b="1" dirty="0"/>
              <a:t>月</a:t>
            </a:r>
            <a:r>
              <a:rPr lang="en-US" altLang="zh-CN" sz="7200" b="1" dirty="0"/>
              <a:t>16</a:t>
            </a:r>
            <a:r>
              <a:rPr lang="zh-CN" altLang="zh-CN" sz="7200" b="1" dirty="0"/>
              <a:t>日报道，一名牛津大学的高材生用刀捅伤了男友却可能免于牢狱之灾，原因竟是她太聪明了，坐牢会毁掉她的前途。</a:t>
            </a:r>
          </a:p>
          <a:p>
            <a:r>
              <a:rPr lang="zh-CN" altLang="zh-CN" sz="7200" b="1" dirty="0"/>
              <a:t>　　</a:t>
            </a:r>
            <a:r>
              <a:rPr lang="en-US" altLang="zh-CN" sz="7200" b="1" dirty="0"/>
              <a:t>24</a:t>
            </a:r>
            <a:r>
              <a:rPr lang="zh-CN" altLang="zh-CN" sz="7200" b="1" dirty="0"/>
              <a:t>岁的拉维妮娅</a:t>
            </a:r>
            <a:r>
              <a:rPr lang="en-US" altLang="zh-CN" sz="7200" b="1" dirty="0"/>
              <a:t>·</a:t>
            </a:r>
            <a:r>
              <a:rPr lang="zh-CN" altLang="zh-CN" sz="7200" b="1" dirty="0"/>
              <a:t>伍德沃德是一名有理想有抱负的医学专业学生，就读于牛津大学基督堂学院。去年</a:t>
            </a:r>
            <a:r>
              <a:rPr lang="en-US" altLang="zh-CN" sz="7200" b="1" dirty="0"/>
              <a:t>9</a:t>
            </a:r>
            <a:r>
              <a:rPr lang="zh-CN" altLang="zh-CN" sz="7200" b="1" dirty="0"/>
              <a:t>月</a:t>
            </a:r>
            <a:r>
              <a:rPr lang="en-US" altLang="zh-CN" sz="7200" b="1" dirty="0"/>
              <a:t>30</a:t>
            </a:r>
            <a:r>
              <a:rPr lang="zh-CN" altLang="zh-CN" sz="7200" b="1" dirty="0"/>
              <a:t>日，她与通过手机交友软件认识的男友因一些事情发生争执。在酒精和药物的作用下，她不但对男友拳脚相加，还用切面包的刀捅伤了他的腿。之后，伍德沃德又抄起笔记本电脑、玻璃杯和果酱罐向对方猛砸。</a:t>
            </a:r>
          </a:p>
          <a:p>
            <a:r>
              <a:rPr lang="zh-CN" altLang="zh-CN" sz="7200" b="1" dirty="0"/>
              <a:t>虽然拉维妮娅承认了非法伤害的指控，法官一开始也表示其行为通常都会被判处监禁，但是之后法官却将宣判日期推迟</a:t>
            </a:r>
            <a:r>
              <a:rPr lang="en-US" altLang="zh-CN" sz="7200" b="1" dirty="0"/>
              <a:t>4</a:t>
            </a:r>
            <a:r>
              <a:rPr lang="zh-CN" altLang="zh-CN" sz="7200" b="1" dirty="0"/>
              <a:t>个月至</a:t>
            </a:r>
            <a:r>
              <a:rPr lang="en-US" altLang="zh-CN" sz="7200" b="1" dirty="0"/>
              <a:t>9</a:t>
            </a:r>
            <a:r>
              <a:rPr lang="zh-CN" altLang="zh-CN" sz="7200" b="1" dirty="0"/>
              <a:t>月</a:t>
            </a:r>
            <a:r>
              <a:rPr lang="en-US" altLang="zh-CN" sz="7200" b="1" dirty="0"/>
              <a:t>25</a:t>
            </a:r>
            <a:r>
              <a:rPr lang="zh-CN" altLang="zh-CN" sz="7200" b="1" dirty="0"/>
              <a:t>日，并称她可能不会坐牢，因为她太有才了。</a:t>
            </a:r>
          </a:p>
          <a:p>
            <a:r>
              <a:rPr lang="zh-CN" altLang="zh-CN" sz="7200" b="1" dirty="0"/>
              <a:t>　　拉维妮娅的辩护律师也表示，一旦被定罪量刑，那么拉维妮娅想要成为一名心脏外科医生的梦想就几乎不可能实现了。</a:t>
            </a:r>
          </a:p>
          <a:p>
            <a:r>
              <a:rPr lang="zh-CN" altLang="zh-CN" sz="7200" b="1" dirty="0"/>
              <a:t>　　虽然在学业上的表现十分出色，但拉维妮娅的生活却十分糟糕，她曾经遭受另一位前任的虐待。法院目前已经禁止她服用违禁药物。</a:t>
            </a:r>
            <a:r>
              <a:rPr lang="en-US" altLang="zh-CN" sz="7200" b="1" dirty="0"/>
              <a:t> </a:t>
            </a:r>
            <a:endParaRPr lang="zh-CN" altLang="zh-CN" sz="7200" b="1" dirty="0"/>
          </a:p>
          <a:p>
            <a:endParaRPr lang="zh-CN" altLang="en-US" sz="7200" b="1" dirty="0"/>
          </a:p>
        </p:txBody>
      </p:sp>
      <p:pic>
        <p:nvPicPr>
          <p:cNvPr id="4" name="图片 3" descr="fd521f2378604d528a95.jpg"/>
          <p:cNvPicPr>
            <a:picLocks noChangeAspect="1"/>
          </p:cNvPicPr>
          <p:nvPr/>
        </p:nvPicPr>
        <p:blipFill>
          <a:blip r:embed="rId2" cstate="print"/>
          <a:stretch>
            <a:fillRect/>
          </a:stretch>
        </p:blipFill>
        <p:spPr>
          <a:xfrm>
            <a:off x="5579492" y="0"/>
            <a:ext cx="3564508" cy="2372018"/>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diamond(in)">
                                      <p:cBhvr>
                                        <p:cTn id="7" dur="20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diamond(in)">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diamond(in)">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diamond(in)">
                                      <p:cBhvr>
                                        <p:cTn id="22" dur="20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diamond(in)">
                                      <p:cBhvr>
                                        <p:cTn id="27" dur="20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8" presetClass="entr" presetSubtype="16"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diamond(in)">
                                      <p:cBhvr>
                                        <p:cTn id="32" dur="20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8" presetClass="entr" presetSubtype="16"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diamond(in)">
                                      <p:cBhvr>
                                        <p:cTn id="37" dur="20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8" presetClass="entr" presetSubtype="16"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diamond(in)">
                                      <p:cBhvr>
                                        <p:cTn id="42" dur="2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400" b="1" dirty="0"/>
              <a:t>葛兰素史克事件   自制药品</a:t>
            </a:r>
          </a:p>
        </p:txBody>
      </p:sp>
      <p:pic>
        <p:nvPicPr>
          <p:cNvPr id="4" name="内容占位符 3" descr="QQ截图20130924160316.jpg"/>
          <p:cNvPicPr>
            <a:picLocks noGrp="1" noChangeAspect="1"/>
          </p:cNvPicPr>
          <p:nvPr>
            <p:ph idx="1"/>
          </p:nvPr>
        </p:nvPicPr>
        <p:blipFill>
          <a:blip r:embed="rId2" cstate="print"/>
          <a:srcRect/>
          <a:stretch>
            <a:fillRect/>
          </a:stretch>
        </p:blipFill>
        <p:spPr bwMode="auto">
          <a:xfrm>
            <a:off x="467544" y="2564904"/>
            <a:ext cx="8229600" cy="2370930"/>
          </a:xfrm>
          <a:prstGeom prst="rect">
            <a:avLst/>
          </a:prstGeom>
          <a:noFill/>
          <a:ln w="9525">
            <a:noFill/>
            <a:miter lim="800000"/>
            <a:headEnd/>
            <a:tailEnd/>
          </a:ln>
        </p:spPr>
      </p:pic>
    </p:spTree>
  </p:cSld>
  <p:clrMapOvr>
    <a:masterClrMapping/>
  </p:clrMapOvr>
  <p:transition>
    <p:strips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amond(in)">
                                      <p:cBhvr>
                                        <p:cTn id="12"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zh-CN" sz="3600" b="1" dirty="0"/>
              <a:t>厦门</a:t>
            </a:r>
            <a:r>
              <a:rPr lang="en-US" altLang="zh-CN" sz="3600" b="1" dirty="0"/>
              <a:t>PX</a:t>
            </a:r>
            <a:r>
              <a:rPr lang="zh-CN" altLang="zh-CN" sz="3600" b="1" dirty="0"/>
              <a:t>项目事件</a:t>
            </a:r>
            <a:br>
              <a:rPr lang="zh-CN" altLang="zh-CN" sz="3600" b="1" dirty="0"/>
            </a:br>
            <a:endParaRPr lang="zh-CN" altLang="en-US" sz="3600" b="1" dirty="0"/>
          </a:p>
        </p:txBody>
      </p:sp>
      <p:sp>
        <p:nvSpPr>
          <p:cNvPr id="3" name="内容占位符 2"/>
          <p:cNvSpPr>
            <a:spLocks noGrp="1"/>
          </p:cNvSpPr>
          <p:nvPr>
            <p:ph idx="1"/>
          </p:nvPr>
        </p:nvSpPr>
        <p:spPr/>
        <p:txBody>
          <a:bodyPr>
            <a:normAutofit fontScale="85000" lnSpcReduction="10000"/>
          </a:bodyPr>
          <a:lstStyle/>
          <a:p>
            <a:r>
              <a:rPr lang="zh-CN" altLang="zh-CN" sz="2000" b="1" dirty="0"/>
              <a:t>厦门</a:t>
            </a:r>
            <a:r>
              <a:rPr lang="en-US" altLang="zh-CN" sz="2000" b="1" dirty="0"/>
              <a:t>PX</a:t>
            </a:r>
            <a:r>
              <a:rPr lang="zh-CN" altLang="zh-CN" sz="2000" b="1" dirty="0"/>
              <a:t>项目事件，是指</a:t>
            </a:r>
            <a:r>
              <a:rPr lang="en-US" altLang="zh-CN" sz="2000" b="1" dirty="0"/>
              <a:t>2007</a:t>
            </a:r>
            <a:r>
              <a:rPr lang="zh-CN" altLang="zh-CN" sz="2000" b="1" dirty="0"/>
              <a:t>年福建省厦门市对海沧半岛计划兴建的对二甲苯（</a:t>
            </a:r>
            <a:r>
              <a:rPr lang="en-US" altLang="zh-CN" sz="2000" b="1" dirty="0"/>
              <a:t>PX</a:t>
            </a:r>
            <a:r>
              <a:rPr lang="zh-CN" altLang="zh-CN" sz="2000" b="1" dirty="0"/>
              <a:t>）项目所进行的抗议事件。该项目由台资企业腾龙芳烃（厦门）有限公司投资，将在海沧区兴建的计划年产</a:t>
            </a:r>
            <a:r>
              <a:rPr lang="en-US" altLang="zh-CN" sz="2000" b="1" dirty="0"/>
              <a:t>80</a:t>
            </a:r>
            <a:r>
              <a:rPr lang="zh-CN" altLang="zh-CN" sz="2000" b="1" dirty="0"/>
              <a:t>万吨对二甲苯（</a:t>
            </a:r>
            <a:r>
              <a:rPr lang="en-US" altLang="zh-CN" sz="2000" b="1" dirty="0"/>
              <a:t>PX</a:t>
            </a:r>
            <a:r>
              <a:rPr lang="zh-CN" altLang="zh-CN" sz="2000" b="1" dirty="0"/>
              <a:t>）的化工厂。腾龙芳烃（厦门）有限公司由富能控股有限公司和华利财务有限公司共同组建。厂址设在厦门市海沧投资区的南部工业园区。该项目已经被纳入中国</a:t>
            </a:r>
            <a:r>
              <a:rPr lang="en-US" altLang="zh-CN" sz="2000" b="1" dirty="0"/>
              <a:t>“</a:t>
            </a:r>
            <a:r>
              <a:rPr lang="zh-CN" altLang="zh-CN" sz="2000" b="1" dirty="0"/>
              <a:t>十一五</a:t>
            </a:r>
            <a:r>
              <a:rPr lang="en-US" altLang="zh-CN" sz="2000" b="1" dirty="0"/>
              <a:t>”</a:t>
            </a:r>
            <a:r>
              <a:rPr lang="zh-CN" altLang="zh-CN" sz="2000" b="1" dirty="0"/>
              <a:t>对二甲苯产业规划。</a:t>
            </a:r>
            <a:endParaRPr lang="en-US" altLang="zh-CN" sz="2000" b="1" dirty="0"/>
          </a:p>
          <a:p>
            <a:r>
              <a:rPr lang="zh-CN" altLang="zh-CN" sz="2000" dirty="0"/>
              <a:t>因为厦门</a:t>
            </a:r>
            <a:r>
              <a:rPr lang="en-US" altLang="zh-CN" sz="2000" dirty="0"/>
              <a:t>PX</a:t>
            </a:r>
            <a:r>
              <a:rPr lang="zh-CN" altLang="zh-CN" sz="2000" dirty="0"/>
              <a:t>项目中心地区距离国家级风景名胜区鼓浪屿只有</a:t>
            </a:r>
            <a:r>
              <a:rPr lang="en-US" altLang="zh-CN" sz="2000" dirty="0"/>
              <a:t>7</a:t>
            </a:r>
            <a:r>
              <a:rPr lang="zh-CN" altLang="zh-CN" sz="2000" dirty="0"/>
              <a:t>公里，距离拥有</a:t>
            </a:r>
            <a:r>
              <a:rPr lang="en-US" altLang="zh-CN" sz="2000" dirty="0"/>
              <a:t>5000</a:t>
            </a:r>
            <a:r>
              <a:rPr lang="zh-CN" altLang="zh-CN" sz="2000" dirty="0"/>
              <a:t>名学生（大部分为寄宿生）的厦门外国语学校和北师大厦门海沧附属学校仅</a:t>
            </a:r>
            <a:r>
              <a:rPr lang="en-US" altLang="zh-CN" sz="2000" dirty="0"/>
              <a:t>4</a:t>
            </a:r>
            <a:r>
              <a:rPr lang="zh-CN" altLang="zh-CN" sz="2000" dirty="0"/>
              <a:t>公里。不仅如此，项目</a:t>
            </a:r>
            <a:r>
              <a:rPr lang="en-US" altLang="zh-CN" sz="2000" dirty="0"/>
              <a:t>5</a:t>
            </a:r>
            <a:r>
              <a:rPr lang="zh-CN" altLang="zh-CN" sz="2000" dirty="0"/>
              <a:t>公里半径范围内的海沧区人口超过</a:t>
            </a:r>
            <a:r>
              <a:rPr lang="en-US" altLang="zh-CN" sz="2000" dirty="0"/>
              <a:t>10</a:t>
            </a:r>
            <a:r>
              <a:rPr lang="zh-CN" altLang="zh-CN" sz="2000" dirty="0"/>
              <a:t>万，居民区与厂区最近处不足</a:t>
            </a:r>
            <a:r>
              <a:rPr lang="en-US" altLang="zh-CN" sz="2000" dirty="0"/>
              <a:t>1.5</a:t>
            </a:r>
            <a:r>
              <a:rPr lang="zh-CN" altLang="zh-CN" sz="2000" dirty="0"/>
              <a:t>公里。而</a:t>
            </a:r>
            <a:r>
              <a:rPr lang="en-US" altLang="zh-CN" sz="2000" dirty="0"/>
              <a:t>10</a:t>
            </a:r>
            <a:r>
              <a:rPr lang="zh-CN" altLang="zh-CN" sz="2000" dirty="0"/>
              <a:t>公里半径范围内，覆盖了大部分九龙江河口区，整个厦门西海域及厦门本岛的</a:t>
            </a:r>
            <a:r>
              <a:rPr lang="en-US" altLang="zh-CN" sz="2000" dirty="0"/>
              <a:t>1/5</a:t>
            </a:r>
            <a:r>
              <a:rPr lang="zh-CN" altLang="zh-CN" sz="2000" dirty="0"/>
              <a:t>。而项目的专用码头，就在厦门海洋珍稀物种国家级自然保护区，该保护区的珍惜物种包括中华白海豚、白鹭、文昌鱼。</a:t>
            </a:r>
          </a:p>
          <a:p>
            <a:r>
              <a:rPr lang="zh-CN" altLang="zh-CN" sz="2000" b="1" dirty="0"/>
              <a:t>由于担心化工厂建成后危及民众健康，该项目遭到百名政协委员联名反对，市民集体抵制，直到厦门市政府宣布暂停工程，</a:t>
            </a:r>
            <a:r>
              <a:rPr lang="en-US" altLang="zh-CN" sz="2000" b="1" dirty="0"/>
              <a:t>PX</a:t>
            </a:r>
            <a:r>
              <a:rPr lang="zh-CN" altLang="zh-CN" sz="2000" b="1" dirty="0"/>
              <a:t>事件的进展牵动着公众眼球。</a:t>
            </a:r>
          </a:p>
          <a:p>
            <a:r>
              <a:rPr lang="zh-CN" altLang="zh-CN" sz="2000" b="1" dirty="0"/>
              <a:t>厦门</a:t>
            </a:r>
            <a:r>
              <a:rPr lang="en-US" altLang="zh-CN" sz="2000" b="1" dirty="0"/>
              <a:t>PX</a:t>
            </a:r>
            <a:r>
              <a:rPr lang="zh-CN" altLang="zh-CN" sz="2000" b="1" dirty="0"/>
              <a:t>项目事件从博弈到妥协，再到充分合作，留下了政府和民众互动的经典范例。</a:t>
            </a:r>
          </a:p>
          <a:p>
            <a:r>
              <a:rPr lang="zh-CN" altLang="zh-CN" sz="2000" b="1" dirty="0"/>
              <a:t>厦门</a:t>
            </a:r>
            <a:r>
              <a:rPr lang="en-US" altLang="zh-CN" sz="2000" b="1" dirty="0"/>
              <a:t>PX</a:t>
            </a:r>
            <a:r>
              <a:rPr lang="zh-CN" altLang="zh-CN" sz="2000" b="1" dirty="0"/>
              <a:t>项目迁址漳州古雷后，两年内连续发生两起特大爆炸事件。</a:t>
            </a:r>
          </a:p>
          <a:p>
            <a:endParaRPr lang="zh-CN" altLang="en-US" sz="2000" b="1" dirty="0"/>
          </a:p>
        </p:txBody>
      </p:sp>
    </p:spTree>
  </p:cSld>
  <p:clrMapOvr>
    <a:masterClrMapping/>
  </p:clrMapOvr>
  <p:transition>
    <p:strips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2000"/>
                                        <p:tgtEl>
                                          <p:spTgt spid="2"/>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diamond(in)">
                                      <p:cBhvr>
                                        <p:cTn id="10" dur="2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8" presetClass="entr" presetSubtype="16"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diamond(in)">
                                      <p:cBhvr>
                                        <p:cTn id="15" dur="20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8" presetClass="entr" presetSubtype="16"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diamond(in)">
                                      <p:cBhvr>
                                        <p:cTn id="20" dur="20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8" presetClass="entr" presetSubtype="16"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diamond(in)">
                                      <p:cBhvr>
                                        <p:cTn id="25" dur="20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8" presetClass="entr" presetSubtype="16" fill="hold" grpId="0"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diamond(in)">
                                      <p:cBhvr>
                                        <p:cTn id="30"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normAutofit fontScale="92500"/>
          </a:bodyPr>
          <a:lstStyle/>
          <a:p>
            <a:r>
              <a:rPr lang="zh-CN" altLang="zh-CN" b="1" dirty="0"/>
              <a:t>滴滴顺风车司机杀人案挑战安全底线 </a:t>
            </a:r>
            <a:endParaRPr lang="zh-CN" altLang="zh-CN" dirty="0"/>
          </a:p>
          <a:p>
            <a:r>
              <a:rPr lang="en-US" altLang="zh-CN" sz="2600" b="1" dirty="0"/>
              <a:t>2018</a:t>
            </a:r>
            <a:r>
              <a:rPr lang="zh-CN" altLang="zh-CN" sz="2600" b="1" dirty="0"/>
              <a:t>年</a:t>
            </a:r>
            <a:r>
              <a:rPr lang="en-US" altLang="zh-CN" sz="2600" b="1" dirty="0"/>
              <a:t>8</a:t>
            </a:r>
            <a:r>
              <a:rPr lang="zh-CN" altLang="zh-CN" sz="2600" b="1" dirty="0"/>
              <a:t>月</a:t>
            </a:r>
            <a:r>
              <a:rPr lang="en-US" altLang="zh-CN" sz="2600" b="1" dirty="0"/>
              <a:t>24</a:t>
            </a:r>
            <a:r>
              <a:rPr lang="zh-CN" altLang="zh-CN" sz="2600" b="1" dirty="0"/>
              <a:t>日，浙江乐清女孩赵某乘坐滴滴顺风车前往永嘉途中，遭司机奸杀。这是继</a:t>
            </a:r>
            <a:r>
              <a:rPr lang="en-US" altLang="zh-CN" sz="2600" b="1" dirty="0"/>
              <a:t>2018</a:t>
            </a:r>
            <a:r>
              <a:rPr lang="zh-CN" altLang="zh-CN" sz="2600" b="1" dirty="0"/>
              <a:t>年</a:t>
            </a:r>
            <a:r>
              <a:rPr lang="en-US" altLang="zh-CN" sz="2600" b="1" dirty="0"/>
              <a:t>5</a:t>
            </a:r>
            <a:r>
              <a:rPr lang="zh-CN" altLang="zh-CN" sz="2600" b="1" dirty="0"/>
              <a:t>月份郑州空姐遇害后，滴滴出行平台发生的又一起严重安全事件。两起命案相继发生，把滴滴出行及旗下的顺风车业务推上风口浪尖，其运营理念与管理方式遭到舆论诟病。</a:t>
            </a:r>
          </a:p>
          <a:p>
            <a:r>
              <a:rPr lang="zh-CN" altLang="zh-CN" sz="2600" b="1" dirty="0"/>
              <a:t>作为网约车的巨头，滴滴的成长一直伴随着安全隐患。据统计，滴滴司机性侵、性骚扰事件，至少有</a:t>
            </a:r>
            <a:r>
              <a:rPr lang="en-US" altLang="zh-CN" sz="2600" b="1" dirty="0"/>
              <a:t>50</a:t>
            </a:r>
            <a:r>
              <a:rPr lang="zh-CN" altLang="zh-CN" sz="2600" b="1" dirty="0"/>
              <a:t>起案例，犯罪人员涉及</a:t>
            </a:r>
            <a:r>
              <a:rPr lang="en-US" altLang="zh-CN" sz="2600" b="1" dirty="0"/>
              <a:t>50</a:t>
            </a:r>
            <a:r>
              <a:rPr lang="zh-CN" altLang="zh-CN" sz="2600" b="1" dirty="0"/>
              <a:t>个司机，</a:t>
            </a:r>
            <a:r>
              <a:rPr lang="en-US" altLang="zh-CN" sz="2600" b="1" dirty="0"/>
              <a:t>53</a:t>
            </a:r>
            <a:r>
              <a:rPr lang="zh-CN" altLang="zh-CN" sz="2600" b="1" dirty="0"/>
              <a:t>名被害人均为女性。滴滴出行在其发展的</a:t>
            </a:r>
            <a:r>
              <a:rPr lang="en-US" altLang="zh-CN" sz="2600" b="1" dirty="0"/>
              <a:t>6</a:t>
            </a:r>
            <a:r>
              <a:rPr lang="zh-CN" altLang="zh-CN" sz="2600" b="1" dirty="0"/>
              <a:t>年多时间里，一共收到过</a:t>
            </a:r>
            <a:r>
              <a:rPr lang="en-US" altLang="zh-CN" sz="2600" b="1" dirty="0"/>
              <a:t>2500</a:t>
            </a:r>
            <a:r>
              <a:rPr lang="zh-CN" altLang="zh-CN" sz="2600" b="1" dirty="0"/>
              <a:t>多份刑事案由裁决书。</a:t>
            </a:r>
          </a:p>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amond(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amond(in)">
                                      <p:cBhvr>
                                        <p:cTn id="17"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92500" lnSpcReduction="10000"/>
          </a:bodyPr>
          <a:lstStyle/>
          <a:p>
            <a:r>
              <a:rPr lang="zh-CN" altLang="zh-CN" b="1" dirty="0"/>
              <a:t>长春长生疫苗事件受到最严厉处罚</a:t>
            </a:r>
          </a:p>
          <a:p>
            <a:r>
              <a:rPr lang="zh-CN" altLang="zh-CN" sz="2600" b="1" dirty="0"/>
              <a:t>事件：</a:t>
            </a:r>
            <a:r>
              <a:rPr lang="en-US" altLang="zh-CN" sz="2600" b="1" dirty="0"/>
              <a:t>2018</a:t>
            </a:r>
            <a:r>
              <a:rPr lang="zh-CN" altLang="zh-CN" sz="2600" b="1" dirty="0"/>
              <a:t>年</a:t>
            </a:r>
            <a:r>
              <a:rPr lang="en-US" altLang="zh-CN" sz="2600" b="1" dirty="0"/>
              <a:t>7</a:t>
            </a:r>
            <a:r>
              <a:rPr lang="zh-CN" altLang="zh-CN" sz="2600" b="1" dirty="0"/>
              <a:t>月</a:t>
            </a:r>
            <a:r>
              <a:rPr lang="en-US" altLang="zh-CN" sz="2600" b="1" dirty="0"/>
              <a:t>15</a:t>
            </a:r>
            <a:r>
              <a:rPr lang="zh-CN" altLang="zh-CN" sz="2600" b="1" dirty="0"/>
              <a:t>日，国家药品监督管理局发布通告，长春长生生物科技有限公司在生产冻干人用狂犬病疫苗的过程中，有的批次混入了过期原液、部分批次不如实填写生产日期和批号。有关部门在调查中还发现，长春长生公司和武汉生物制品研究所有限责任公司生产的</a:t>
            </a:r>
            <a:r>
              <a:rPr lang="en-US" altLang="zh-CN" sz="2600" b="1" dirty="0"/>
              <a:t>65</a:t>
            </a:r>
            <a:r>
              <a:rPr lang="zh-CN" altLang="zh-CN" sz="2600" b="1" dirty="0"/>
              <a:t>万余支百白破疫苗也存在问题，并且已经销往山东、河北、重庆等地。国家食品药品监督管理局吊销长春长生公司药品生产许可证，并罚没款</a:t>
            </a:r>
            <a:r>
              <a:rPr lang="en-US" altLang="zh-CN" sz="2600" b="1" dirty="0"/>
              <a:t>91</a:t>
            </a:r>
            <a:r>
              <a:rPr lang="zh-CN" altLang="zh-CN" sz="2600" b="1" dirty="0"/>
              <a:t>亿元；深交所对该公司股票强制退市；公安机关第一时间依法立案侦查，公司董事长高某芳等</a:t>
            </a:r>
            <a:r>
              <a:rPr lang="en-US" altLang="zh-CN" sz="2600" b="1" dirty="0"/>
              <a:t>18</a:t>
            </a:r>
            <a:r>
              <a:rPr lang="zh-CN" altLang="zh-CN" sz="2600" b="1" dirty="0"/>
              <a:t>名犯罪嫌疑人被批准逮捕；从主管部门到省市区，多名官员被严肃问责。</a:t>
            </a:r>
          </a:p>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amond(in)">
                                      <p:cBhvr>
                                        <p:cTn id="12"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Autofit/>
          </a:bodyPr>
          <a:lstStyle/>
          <a:p>
            <a:r>
              <a:rPr lang="en-US" altLang="zh-CN" sz="2400" b="1" dirty="0"/>
              <a:t>2019</a:t>
            </a:r>
            <a:r>
              <a:rPr lang="zh-CN" altLang="zh-CN" sz="2400" b="1" dirty="0"/>
              <a:t>波音</a:t>
            </a:r>
            <a:r>
              <a:rPr lang="en-US" altLang="zh-CN" sz="2400" b="1" dirty="0"/>
              <a:t>737MAX</a:t>
            </a:r>
            <a:r>
              <a:rPr lang="zh-CN" altLang="zh-CN" sz="2400" b="1" dirty="0"/>
              <a:t>停飞事件</a:t>
            </a:r>
            <a:endParaRPr lang="zh-CN" altLang="zh-CN" sz="2400" dirty="0"/>
          </a:p>
          <a:p>
            <a:r>
              <a:rPr lang="en-US" altLang="zh-CN" sz="2400" b="1" dirty="0"/>
              <a:t>2019</a:t>
            </a:r>
            <a:r>
              <a:rPr lang="zh-CN" altLang="zh-CN" sz="2400" b="1" dirty="0"/>
              <a:t>年埃塞俄比亚航空</a:t>
            </a:r>
            <a:r>
              <a:rPr lang="en-US" altLang="zh-CN" sz="2400" b="1" dirty="0"/>
              <a:t>302</a:t>
            </a:r>
            <a:r>
              <a:rPr lang="zh-CN" altLang="zh-CN" sz="2400" b="1" dirty="0"/>
              <a:t>号班机空难之后，多国民航主管部门和航空公司因担忧波音</a:t>
            </a:r>
            <a:r>
              <a:rPr lang="en-US" altLang="zh-CN" sz="2400" b="1" dirty="0"/>
              <a:t>737 MAX</a:t>
            </a:r>
            <a:r>
              <a:rPr lang="zh-CN" altLang="zh-CN" sz="2400" b="1" dirty="0"/>
              <a:t>系列客机的安全性而停止其商业运行的事件。 </a:t>
            </a:r>
          </a:p>
          <a:p>
            <a:r>
              <a:rPr lang="en-US" altLang="zh-CN" sz="2400" b="1" dirty="0"/>
              <a:t>       </a:t>
            </a:r>
            <a:r>
              <a:rPr lang="zh-CN" altLang="zh-CN" sz="2400" b="1" dirty="0"/>
              <a:t>这一代飞机的主要设计由来是换装更大直径的</a:t>
            </a:r>
            <a:r>
              <a:rPr lang="en-US" altLang="zh-CN" sz="2400" b="1" dirty="0"/>
              <a:t>LEAP-1B</a:t>
            </a:r>
            <a:r>
              <a:rPr lang="zh-CN" altLang="zh-CN" sz="2400" b="1" dirty="0"/>
              <a:t>发动机，这款发动机推力更大，更省油，能使飞机搭载更多旅客飞的更远，这也是这一次事故的由来，发动机直径太大，导致机翼上表面在某些攻角期间容易发生失速，所以波音公司特意开发了一种名为设机动加强系统的操纵备来解决问题，谁知道这款系统在攻角传感器故障时，会导致飞机进入“死亡俯冲”。 </a:t>
            </a:r>
          </a:p>
          <a:p>
            <a:endParaRPr lang="zh-CN" alt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par>
                                <p:cTn id="8" presetID="8" presetClass="entr" presetSubtype="16"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amond(in)">
                                      <p:cBhvr>
                                        <p:cTn id="10" dur="2000"/>
                                        <p:tgtEl>
                                          <p:spTgt spid="3">
                                            <p:txEl>
                                              <p:pRg st="1" end="1"/>
                                            </p:txEl>
                                          </p:spTgt>
                                        </p:tgtEl>
                                      </p:cBhvr>
                                    </p:animEffect>
                                  </p:childTnLst>
                                </p:cTn>
                              </p:par>
                              <p:par>
                                <p:cTn id="11" presetID="8" presetClass="entr" presetSubtype="16"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diamond(in)">
                                      <p:cBhvr>
                                        <p:cTn id="13"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TotalTime>
  <Words>6391</Words>
  <Application>Microsoft Office PowerPoint</Application>
  <PresentationFormat>全屏显示(4:3)</PresentationFormat>
  <Paragraphs>220</Paragraphs>
  <Slides>48</Slides>
  <Notes>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48</vt:i4>
      </vt:variant>
    </vt:vector>
  </HeadingPairs>
  <TitlesOfParts>
    <vt:vector size="60" baseType="lpstr">
      <vt:lpstr>Monotype Sorts</vt:lpstr>
      <vt:lpstr>黑体</vt:lpstr>
      <vt:lpstr>华文新魏</vt:lpstr>
      <vt:lpstr>楷体_GB2312</vt:lpstr>
      <vt:lpstr>宋体</vt:lpstr>
      <vt:lpstr>字魂36号-正文宋楷</vt:lpstr>
      <vt:lpstr>arial</vt:lpstr>
      <vt:lpstr>arial</vt:lpstr>
      <vt:lpstr>Calibri</vt:lpstr>
      <vt:lpstr>Times New Roman</vt:lpstr>
      <vt:lpstr>Wingdings</vt:lpstr>
      <vt:lpstr>Office 主题</vt:lpstr>
      <vt:lpstr>工程伦理学第一讲 </vt:lpstr>
      <vt:lpstr>PowerPoint 演示文稿</vt:lpstr>
      <vt:lpstr>PowerPoint 演示文稿</vt:lpstr>
      <vt:lpstr>如何看待下列问题？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工程是什么？  世界著名工程</vt:lpstr>
      <vt:lpstr>PowerPoint 演示文稿</vt:lpstr>
      <vt:lpstr>中国历史上的伟大工程</vt:lpstr>
      <vt:lpstr>南水北调</vt:lpstr>
      <vt:lpstr>高峡出平湖——三峡工程</vt:lpstr>
      <vt:lpstr>都江堰   白起水淹郾城</vt:lpstr>
      <vt:lpstr>PowerPoint 演示文稿</vt:lpstr>
      <vt:lpstr>工程的本质</vt:lpstr>
      <vt:lpstr>PowerPoint 演示文稿</vt:lpstr>
      <vt:lpstr>PowerPoint 演示文稿</vt:lpstr>
      <vt:lpstr> 工程活动的特征 </vt:lpstr>
      <vt:lpstr> 2、工程活动的系统性与协调性 </vt:lpstr>
      <vt:lpstr>3、工程知识的集成性与优化性</vt:lpstr>
      <vt:lpstr>4、工程活动的场域性与情境性</vt:lpstr>
      <vt:lpstr>5.工程活动的不确定性与风险性</vt:lpstr>
      <vt:lpstr>PowerPoint 演示文稿</vt:lpstr>
      <vt:lpstr>在职业工作中的道德困境 </vt:lpstr>
      <vt:lpstr>PowerPoint 演示文稿</vt:lpstr>
      <vt:lpstr>PowerPoint 演示文稿</vt:lpstr>
      <vt:lpstr>伦理与道德的区别</vt:lpstr>
      <vt:lpstr>PowerPoint 演示文稿</vt:lpstr>
      <vt:lpstr>PowerPoint 演示文稿</vt:lpstr>
      <vt:lpstr>PowerPoint 演示文稿</vt:lpstr>
      <vt:lpstr>PowerPoint 演示文稿</vt:lpstr>
      <vt:lpstr>PowerPoint 演示文稿</vt:lpstr>
      <vt:lpstr>PowerPoint 演示文稿</vt:lpstr>
      <vt:lpstr>葛兰素史克事件   自制药品</vt:lpstr>
      <vt:lpstr>厦门PX项目事件 </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
  <cp:lastModifiedBy>2024.04</cp:lastModifiedBy>
  <cp:revision>162</cp:revision>
  <dcterms:created xsi:type="dcterms:W3CDTF">2022-03-14T08:41:22Z</dcterms:created>
  <dcterms:modified xsi:type="dcterms:W3CDTF">2025-06-19T14:13:17Z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18EAED140B1147389EFD10D051752E21</vt:lpwstr>
  </property>
  <property fmtid="{D5CDD505-2E9C-101B-9397-08002B2CF9AE}" pid="3" name="KSOProductBuildVer">
    <vt:lpwstr>2052-11.1.0.11365</vt:lpwstr>
  </property>
</Properties>
</file>